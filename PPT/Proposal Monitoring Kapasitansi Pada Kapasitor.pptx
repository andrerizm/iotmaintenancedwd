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3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146846689" r:id="rId5"/>
    <p:sldId id="2146846690" r:id="rId6"/>
    <p:sldId id="2146846691" r:id="rId7"/>
    <p:sldId id="2146846692" r:id="rId8"/>
    <p:sldId id="2146846702" r:id="rId9"/>
    <p:sldId id="2146846693" r:id="rId10"/>
    <p:sldId id="2146846703" r:id="rId11"/>
    <p:sldId id="2146846694" r:id="rId12"/>
    <p:sldId id="2146846704" r:id="rId13"/>
    <p:sldId id="2146846695" r:id="rId14"/>
    <p:sldId id="2146846705" r:id="rId15"/>
    <p:sldId id="2146846696" r:id="rId16"/>
    <p:sldId id="2146846706" r:id="rId17"/>
    <p:sldId id="2146846697" r:id="rId18"/>
    <p:sldId id="2146846710" r:id="rId19"/>
    <p:sldId id="2146846707" r:id="rId20"/>
    <p:sldId id="2146846700" r:id="rId21"/>
    <p:sldId id="2146846698" r:id="rId22"/>
    <p:sldId id="2146846709" r:id="rId23"/>
    <p:sldId id="2146846708" r:id="rId24"/>
    <p:sldId id="2146846699" r:id="rId25"/>
  </p:sldIdLst>
  <p:sldSz cx="9144000" cy="5143500" type="screen16x9"/>
  <p:notesSz cx="6797675" cy="9926638"/>
  <p:embeddedFontLst>
    <p:embeddedFont>
      <p:font typeface="Bekaert Headline" panose="020B0604020202020204" charset="0"/>
      <p:regular r:id="rId28"/>
      <p:bold r:id="rId29"/>
    </p:embeddedFont>
    <p:embeddedFont>
      <p:font typeface="Bekaert Text" panose="020B060402020202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E25E443A-8AC0-6F49-B7E2-D1705C57DFD4}">
          <p14:sldIdLst>
            <p14:sldId id="2146846689"/>
            <p14:sldId id="2146846690"/>
            <p14:sldId id="2146846691"/>
            <p14:sldId id="2146846692"/>
            <p14:sldId id="2146846702"/>
            <p14:sldId id="2146846693"/>
            <p14:sldId id="2146846703"/>
            <p14:sldId id="2146846694"/>
            <p14:sldId id="2146846704"/>
            <p14:sldId id="2146846695"/>
            <p14:sldId id="2146846705"/>
            <p14:sldId id="2146846696"/>
            <p14:sldId id="2146846706"/>
            <p14:sldId id="2146846697"/>
            <p14:sldId id="2146846710"/>
            <p14:sldId id="2146846707"/>
            <p14:sldId id="2146846700"/>
            <p14:sldId id="2146846698"/>
            <p14:sldId id="2146846709"/>
            <p14:sldId id="2146846708"/>
            <p14:sldId id="21468466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2C"/>
    <a:srgbClr val="F5F3F2"/>
    <a:srgbClr val="D7D2CB"/>
    <a:srgbClr val="FF4E09"/>
    <a:srgbClr val="000000"/>
    <a:srgbClr val="FF602B"/>
    <a:srgbClr val="D7D2CC"/>
    <a:srgbClr val="FBF9FB"/>
    <a:srgbClr val="FFFFFF"/>
    <a:srgbClr val="F6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466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 Suhendar" userId="009bf0aa-8907-4b89-bd90-2f097e0bba28" providerId="ADAL" clId="{FD6B5831-0885-4FE4-B9B2-E0A44A5D1EAC}"/>
    <pc:docChg chg="delSld modSection">
      <pc:chgData name="Ade Suhendar" userId="009bf0aa-8907-4b89-bd90-2f097e0bba28" providerId="ADAL" clId="{FD6B5831-0885-4FE4-B9B2-E0A44A5D1EAC}" dt="2026-07-08T07:32:05.567" v="1" actId="47"/>
      <pc:docMkLst>
        <pc:docMk/>
      </pc:docMkLst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286968569" sldId="214684675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208957579" sldId="2146846759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170755386" sldId="2146846762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058501839" sldId="2146846763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070550787" sldId="2146846764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279524429" sldId="2146846765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121359371" sldId="2146846766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2718115878" sldId="214684676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3742965099" sldId="21468468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BE62-DCC7-4686-A7D3-13D877BBE637}" type="datetime1">
              <a:rPr lang="de-DE" smtClean="0"/>
              <a:t>13.07.2026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18715-605C-4611-8395-5334328A364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39735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495" y="765207"/>
            <a:ext cx="4972128" cy="27974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2495" y="9402940"/>
            <a:ext cx="4861933" cy="28056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1338" y="9395470"/>
            <a:ext cx="504055" cy="2880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052C23-B717-48D0-A2BC-5D53607266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5177973" y="9395471"/>
            <a:ext cx="1008111" cy="2880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5A158C-90D7-49DC-BA2D-2BAD34037B44}" type="datetime1">
              <a:rPr lang="de-DE" smtClean="0"/>
              <a:pPr/>
              <a:t>13.07.2026</a:t>
            </a:fld>
            <a:endParaRPr lang="nl-BE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02495" y="3679220"/>
            <a:ext cx="6192686" cy="5594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>
          <a:xfrm>
            <a:off x="302496" y="186371"/>
            <a:ext cx="4972128" cy="47580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400" b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250828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marR="0" indent="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Wingdings" panose="05000000000000000000" pitchFamily="2" charset="2"/>
      <a:buNone/>
      <a:tabLst/>
      <a:defRPr sz="1000" kern="1200" baseline="0">
        <a:solidFill>
          <a:schemeClr val="tx1"/>
        </a:solidFill>
        <a:latin typeface="+mn-lt"/>
        <a:ea typeface="+mn-ea"/>
        <a:cs typeface="+mn-cs"/>
      </a:defRPr>
    </a:lvl1pPr>
    <a:lvl2pPr marL="179388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56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‒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34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Courier New" panose="02070309020205020404" pitchFamily="49" charset="0"/>
      <a:buChar char="o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23900" marR="0" indent="-142875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»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080000" marR="0" indent="-14400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2C23-B717-48D0-A2BC-5D53607266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CEBE8F-D45F-4586-A0B2-7BD102CF4564}" type="datetime1">
              <a:rPr lang="de-DE" smtClean="0"/>
              <a:pPr/>
              <a:t>13.07.2026</a:t>
            </a:fld>
            <a:endParaRPr lang="nl-BE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8" name="Slide Image Placeholder 17">
            <a:extLst>
              <a:ext uri="{FF2B5EF4-FFF2-40B4-BE49-F238E27FC236}">
                <a16:creationId xmlns:a16="http://schemas.microsoft.com/office/drawing/2014/main" id="{4576A740-47FD-ED2F-9F20-E3D976F3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3213" y="765175"/>
            <a:ext cx="4972050" cy="2797175"/>
          </a:xfrm>
        </p:spPr>
      </p:sp>
      <p:sp>
        <p:nvSpPr>
          <p:cNvPr id="19" name="Notes Placeholder 18">
            <a:extLst>
              <a:ext uri="{FF2B5EF4-FFF2-40B4-BE49-F238E27FC236}">
                <a16:creationId xmlns:a16="http://schemas.microsoft.com/office/drawing/2014/main" id="{5605CF9A-0EE5-5DD2-27BF-7373BA80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hyperlink" Target="https://bekaert.com/" TargetMode="Externa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Image">
    <p:bg bwMode="auto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40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BD7E4688-3C3E-F162-D60A-C5C44875C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143999" cy="514350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1062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  <a:endParaRPr lang="nl-BE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  <a:endParaRPr lang="nl-BE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106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4552722" cy="1761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B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710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8041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 algn="l" rtl="0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804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 rtl="0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1821904" cy="17613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 rtl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6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29D6AE93-DB80-D875-FBA9-5DDF7AFA1D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503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29D6AE93-DB80-D875-FBA9-5DDF7AFA1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0AFEE-B299-EEE7-328F-9D91D8380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26123" y="4672881"/>
            <a:ext cx="46813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BBF93-D887-927B-C8D7-BBC082E8A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848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32E008B-4BF4-CC04-1349-129AC70E4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848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3D96D3-F072-B760-070A-98E4CC3F51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848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4B39A3-2047-5F71-A5D1-7FE5DF09E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>
            <a:lvl1pPr>
              <a:defRPr/>
            </a:lvl1pPr>
          </a:lstStyle>
          <a:p>
            <a:r>
              <a:rPr lang="en-US"/>
              <a:t>[Agenda]</a:t>
            </a:r>
            <a:endParaRPr lang="nl-BE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A7934EB-70C8-162B-07C1-79B6D9B025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48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30A05F1A-98C5-C524-8E87-63A09581D9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2130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CDAEF535-524D-8E84-00CD-BE4C7CE6F7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2130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8340598-2CC3-9A90-75F5-DE4B44AF60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130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077C10B2-AA6E-1788-D297-E19B4B56C1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2130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E814F1E-DF82-AA8E-95E0-75F64E541D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22130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52575C9-AC24-3E4E-5B21-071308F7E9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4473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496125DB-3124-15F0-B447-AF4D70EE83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755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1818CA2D-082E-7AD4-9B46-8E3F5492B77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67848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EA4BF70-A19F-CDCD-4870-FF0B07A6F34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22130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137CC8DD-B7AD-A461-8354-010FBB9DEF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67848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1F9498B0-823E-D492-719B-C07A909711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2130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A809151A-A372-A268-260F-1805FF4EF2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7848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3DD197-9290-F631-1521-D11B9210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79E611E-3B77-4404-E304-7DE9136CCD6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8B79F9-2773-47D7-1E9E-F618B7B2F67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47190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83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321546"/>
            <a:ext cx="8634220" cy="997196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72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[Optional: presenter name or topic]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134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37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764744"/>
            <a:ext cx="5759999" cy="553998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4000" b="0" i="0" spc="-11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922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8C8C860-C66F-606D-34AF-5DB830BB06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03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8C8C860-C66F-606D-34AF-5DB830BB0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5E6E7F4-0882-BD46-167D-CB49972C398B}"/>
              </a:ext>
            </a:extLst>
          </p:cNvPr>
          <p:cNvSpPr txBox="1"/>
          <p:nvPr userDrawn="1"/>
        </p:nvSpPr>
        <p:spPr>
          <a:xfrm>
            <a:off x="683288" y="41198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1400" err="1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397AA07-D572-645E-D231-318AF738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6D8481-800B-4E45-8479-565B9467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463994-5D41-7335-4F98-CC10148B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171D-A172-D917-1D5A-6A30A78AEB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8763" y="987425"/>
            <a:ext cx="8634412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93EBD-AB09-1EEF-CC7A-C9A36174A1F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543826-3C2A-7C3D-C45E-956D9F9C9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4728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8EEEA4-68D3-12EF-D3F8-5FC70D0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01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8EEEA4-68D3-12EF-D3F8-5FC70D0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921B04-CC6F-29C1-B885-0375AC7EC45B}"/>
              </a:ext>
            </a:extLst>
          </p:cNvPr>
          <p:cNvSpPr/>
          <p:nvPr userDrawn="1"/>
        </p:nvSpPr>
        <p:spPr bwMode="ltGray">
          <a:xfrm>
            <a:off x="-1" y="0"/>
            <a:ext cx="3060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96B6-7977-050D-E44F-22D9129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2542090" cy="34499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674CB-30FB-672E-6474-D0C0D4F18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569-86B5-C9DA-C589-F38D40BBC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40B5-E797-44D6-A773-FE469687A3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97E09-1276-5725-9F66-E090810E5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987425"/>
            <a:ext cx="25495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6F1E99B-3BF4-5670-6F75-57CBD066B3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82950" y="987425"/>
            <a:ext cx="56102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48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00BC233-7327-40DA-A001-7CB47D27E4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27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00BC233-7327-40DA-A001-7CB47D27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EC12-2999-D7B8-2F22-5261A4620BC9}"/>
              </a:ext>
            </a:extLst>
          </p:cNvPr>
          <p:cNvSpPr>
            <a:spLocks noGrp="1"/>
          </p:cNvSpPr>
          <p:nvPr>
            <p:ph sz="quarter" idx="27"/>
          </p:nvPr>
        </p:nvSpPr>
        <p:spPr bwMode="ltGray">
          <a:xfrm>
            <a:off x="250825" y="987425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F94D30-E574-9178-1D36-0BB1D18E8FB2}"/>
              </a:ext>
            </a:extLst>
          </p:cNvPr>
          <p:cNvSpPr>
            <a:spLocks noGrp="1"/>
          </p:cNvSpPr>
          <p:nvPr>
            <p:ph sz="quarter" idx="28"/>
          </p:nvPr>
        </p:nvSpPr>
        <p:spPr bwMode="ltGray">
          <a:xfrm>
            <a:off x="3182408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8C561CB-A528-4BBB-FE90-869BAE4C87AF}"/>
              </a:ext>
            </a:extLst>
          </p:cNvPr>
          <p:cNvSpPr>
            <a:spLocks noGrp="1"/>
          </p:cNvSpPr>
          <p:nvPr>
            <p:ph sz="quarter" idx="29"/>
          </p:nvPr>
        </p:nvSpPr>
        <p:spPr bwMode="ltGray">
          <a:xfrm>
            <a:off x="6113462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877D7D67-BFFB-62A6-640D-4F6EF88C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1361890-BCE9-4670-BA98-762E04E2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B346-830F-670F-266E-B4ED5987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03167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DAC83-6151-51C4-1E61-A24590E43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C4051-CEAA-A4B8-19BF-93D8D1877A22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C7FB99-96BD-0278-EC27-7D663ABACA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6" y="518400"/>
            <a:ext cx="5711296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715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3E6F75-3A87-4903-B598-D451C0327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67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3E6F75-3A87-4903-B598-D451C0327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0CB8183-26A9-7D08-4553-B1A57210B2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0825" y="1012197"/>
            <a:ext cx="2877706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EF0E478-B3A9-E9D2-FC5A-0B57FEBAC81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2083" y="1012197"/>
            <a:ext cx="2864152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266051B-1788-6DC9-DBC1-079C9FD769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15471" y="1012197"/>
            <a:ext cx="2877704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EF29F-9481-F58F-445E-64302BC5796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88D81D-4A50-DE8F-81D5-23FD144744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BB0-4423-8882-9979-41E743B9FA3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64379" y="2685331"/>
            <a:ext cx="2864152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4A17779-7404-75B6-FD77-2ED3703A3EF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31290" y="2685331"/>
            <a:ext cx="2878138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F5C2DF6-7C6C-F41D-1603-393B637B403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018953" y="2685331"/>
            <a:ext cx="2865419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6938-93DD-6EA2-5E4A-2033A2E6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589112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D65CBFC-88BB-54A1-6F5B-100B4CB7B1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B7B0895-974C-C683-C077-D8483237580C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FFDD3D9-EE6D-BC4D-09D0-D0AFB54AAE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6" y="518400"/>
            <a:ext cx="5597240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077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4732BD8-418C-4BDF-A10E-549E101203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28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4732BD8-418C-4BDF-A10E-549E1012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4486D7A-9D19-9FA8-79ED-E6A2947E3C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726" y="268288"/>
            <a:ext cx="4870450" cy="460692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51-1227-F5A8-0981-F428D4E815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0825" y="2074863"/>
            <a:ext cx="3546475" cy="2366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BFABB6-FD36-750D-41A1-ACBE1E15893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D9A9D8-75A7-3789-06E1-808A20D4CD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58954" y="4669639"/>
            <a:ext cx="3538346" cy="205573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42A26E-4336-768F-1380-A3743DCF23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B3C8D-A744-E98E-01C3-82F14216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35383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DFCC05-0F8B-7FF4-106B-7D06C77D5E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518400"/>
            <a:ext cx="35464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2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284EA97-31E5-8E78-A6FA-A4543A6C7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60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284EA97-31E5-8E78-A6FA-A4543A6C7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5DB2EE2-D21B-5E2A-B800-A2D2D07CABB9}"/>
              </a:ext>
            </a:extLst>
          </p:cNvPr>
          <p:cNvSpPr/>
          <p:nvPr userDrawn="1"/>
        </p:nvSpPr>
        <p:spPr bwMode="ltGray">
          <a:xfrm>
            <a:off x="3132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ECE0C-95D2-B1D5-670D-867A72066883}"/>
              </a:ext>
            </a:extLst>
          </p:cNvPr>
          <p:cNvSpPr/>
          <p:nvPr userDrawn="1"/>
        </p:nvSpPr>
        <p:spPr bwMode="ltGray">
          <a:xfrm>
            <a:off x="6138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2DC11-924E-95A3-7240-E7AA5E633226}"/>
              </a:ext>
            </a:extLst>
          </p:cNvPr>
          <p:cNvSpPr/>
          <p:nvPr userDrawn="1"/>
        </p:nvSpPr>
        <p:spPr bwMode="ltGray">
          <a:xfrm>
            <a:off x="126001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58359B-F342-2E8E-AEEA-5DDCA0973F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650" y="2177063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B7D41A8-129E-CB23-2AC8-B9A8865BA0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8000" y="217769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0D20DAF-0C30-0FB3-5C15-CB68510D4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4000" y="218531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248D52-243C-1683-707C-64B5E7637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763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6DBEEAB-9227-BE0B-5967-27E3F3EB12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E8654C9-5EC0-273A-D29E-8F13C50DF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4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2818B-3240-A16A-2DE8-554F41A8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530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FA463D96-E439-5538-39A8-93FD184D8F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824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0DE541C-C5CD-D3BC-5DCF-52CCED418C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518400"/>
            <a:ext cx="57611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3727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F3B4A5C-3738-482B-B4BF-4B2A973BF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216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F3B4A5C-3738-482B-B4BF-4B2A973BF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DE64330-A74E-9142-A6C6-53DB50D28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264379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CE6BAAE-8C75-7440-B6FC-2AAE2E19B3A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3142083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183C9D-2170-C242-B222-1DBEAE2B2DD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015471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C35A-CB62-0EC7-4577-B7049B787E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316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9B6F-1B71-F022-EC9D-60A5A778E1E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DDF4-1038-7A79-02D8-DBA4913770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065647-D073-4A53-7318-D8E7620761C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5FF2-D74F-AE00-CD70-2B0A0649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47281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1119C6-249A-E5C5-214C-56ECC3003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0825" y="518400"/>
            <a:ext cx="5768129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858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full size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A71D556-58B4-5D7F-82BE-2B2BF2C2FC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975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A71D556-58B4-5D7F-82BE-2B2BF2C2F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CDA396-1A60-DE7F-24CF-F5975A8C1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305911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DDB2645-EC03-47EF-BF4A-27154B6C03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53822" y="0"/>
            <a:ext cx="3059113" cy="5146676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C07204E-A4FB-B0D8-796F-4F2D43712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84887" y="0"/>
            <a:ext cx="3059113" cy="5146676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43C5413-9372-CA95-DFED-6E12C85CB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850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D26C239-DFFE-8B2C-A0E3-7731CC2D5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8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EC1025E-8A29-A020-4EC8-F394F116D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097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3B21781C-D9EE-051A-F677-B8F20D4A9B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3325188-B742-A880-91CE-1260E8DB6E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5E9B3EE-980D-F243-C416-B70A93638F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A42E-1EEA-A4BF-D405-8C0514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990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7" userDrawn="1">
          <p15:clr>
            <a:srgbClr val="FBAE40"/>
          </p15:clr>
        </p15:guide>
        <p15:guide id="2" pos="385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 | standout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005290D-31C2-0E08-4FAF-9A0C67535C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177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005290D-31C2-0E08-4FAF-9A0C67535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C5A7-C787-34CB-A4E6-E306A29E0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13C8-D02F-979A-175F-75BB6B03BC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21C3-8B55-2B6E-1E30-6408C776C744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/>
        <p:txBody>
          <a:bodyPr/>
          <a:lstStyle/>
          <a:p>
            <a:endParaRPr lang="nl-BE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2ECA8FE-0CA0-0A3B-0C86-5BC6748C46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blackGray">
          <a:xfrm>
            <a:off x="4572000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9FA4F-AB03-B080-CB7B-02E3B231C70C}"/>
              </a:ext>
            </a:extLst>
          </p:cNvPr>
          <p:cNvSpPr txBox="1"/>
          <p:nvPr userDrawn="1"/>
        </p:nvSpPr>
        <p:spPr>
          <a:xfrm>
            <a:off x="9273540" y="3176"/>
            <a:ext cx="937260" cy="19018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97F08-DD6D-022C-B76E-16E37FD2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1370974"/>
            <a:ext cx="4872603" cy="860435"/>
          </a:xfrm>
        </p:spPr>
        <p:txBody>
          <a:bodyPr vert="horz" wrap="square"/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EE4D921-C531-AC59-0229-1102D9DA3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8763" y="288000"/>
            <a:ext cx="521878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accent6"/>
            </a:solidFill>
          </a:ln>
        </p:spPr>
        <p:txBody>
          <a:bodyPr wrap="none" lIns="72000" tIns="0" rIns="7200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nl-BE"/>
              <a:t>Topic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5B147E53-8612-6ADC-FDF7-A1BA32D8C8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blackGray">
          <a:xfrm>
            <a:off x="258954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0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1D2CDF7-AA1B-CC22-AF43-FD26F94F78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401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1D2CDF7-AA1B-CC22-AF43-FD26F94F78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12A3-F966-DD84-6A44-A3C8572A7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DFC-63A2-2B80-8F3C-ECF57E8D6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9E13-38DC-F296-02D3-1F47A5B1F6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59EA2-914C-0229-2104-9D0D0D741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081" y="1842757"/>
            <a:ext cx="8139776" cy="1002347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Insert</a:t>
            </a:r>
            <a:r>
              <a:rPr lang="nl-BE"/>
              <a:t> quote here]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41AD4-7D09-0491-CB4F-BD46A005C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1371" y="3630613"/>
            <a:ext cx="4481258" cy="320414"/>
          </a:xfrm>
        </p:spPr>
        <p:txBody>
          <a:bodyPr wrap="square"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nl-BE"/>
              <a:t>[Author]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40A4D-8900-EA7B-0E1E-0C3E3DE64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954" y="278263"/>
            <a:ext cx="504746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tx1"/>
            </a:solidFill>
          </a:ln>
        </p:spPr>
        <p:txBody>
          <a:bodyPr vert="horz" wrap="none" lIns="72000" rIns="72000" anchor="ctr" anchorCtr="0">
            <a:spAutoFit/>
          </a:bodyPr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Topic</a:t>
            </a:r>
            <a:endParaRPr lang="nl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3A4E-BDB7-53DE-F13F-3E5C0151CDFB}"/>
              </a:ext>
            </a:extLst>
          </p:cNvPr>
          <p:cNvSpPr txBox="1"/>
          <p:nvPr userDrawn="1"/>
        </p:nvSpPr>
        <p:spPr>
          <a:xfrm>
            <a:off x="9273540" y="3176"/>
            <a:ext cx="937260" cy="233910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want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picture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full-slide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</p:spTree>
    <p:extLst>
      <p:ext uri="{BB962C8B-B14F-4D97-AF65-F5344CB8AC3E}">
        <p14:creationId xmlns:p14="http://schemas.microsoft.com/office/powerpoint/2010/main" val="20098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 with imag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456845F-2F69-EE11-AE5A-9C85268897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873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456845F-2F69-EE11-AE5A-9C852688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E3A68D-4C3B-6C9C-7860-923F9EEA007B}"/>
              </a:ext>
            </a:extLst>
          </p:cNvPr>
          <p:cNvSpPr/>
          <p:nvPr userDrawn="1"/>
        </p:nvSpPr>
        <p:spPr bwMode="white">
          <a:xfrm>
            <a:off x="0" y="3176"/>
            <a:ext cx="5261213" cy="51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5FB9B-2BF1-BB82-610C-178E2A062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52" y="627063"/>
            <a:ext cx="4285397" cy="3822107"/>
          </a:xfrm>
        </p:spPr>
        <p:txBody>
          <a:bodyPr vert="horz" wrap="square" anchor="ctr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[Insert quote here]</a:t>
            </a:r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DF7F77-0453-11DD-F01E-616B9FFC8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261212" y="3176"/>
            <a:ext cx="3882788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0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873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C9C74EE-AA4D-E422-E0BE-05E7DCA2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>
            <a:lvl1pPr>
              <a:defRPr/>
            </a:lvl1pPr>
          </a:lstStyle>
          <a:p>
            <a:endParaRPr lang="nl-BE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E6B20CF2-5EE2-BD6A-9F27-8C1AE4CA43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54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35601D3-6A09-989E-0B84-CD5621B879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954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185DFCC5-83FB-497A-3892-E29C92DE71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95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78FB-A229-72A4-1418-B20FEFA0CB1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9BDC-635F-7D2F-5CD2-DDC1C473684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D2268-6FEE-8DB8-6573-C5463835222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5028307-7A03-2237-E31A-550FAC4FF5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4257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EBBFD8C-0087-D187-CC4A-7528969DD6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84257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360F96A-6FDE-73C8-C168-F3FE6BD2537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84257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2B66D1-FC42-920F-0C7D-922F1F53CBF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709561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8002292-4E41-2462-17FA-ED89A84A4C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09561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43EA9FA-111F-4A8B-9DF4-4122652B2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09561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5F8CAE2-D5B6-55E2-F6BE-264A734D85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34865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8B09040-4B85-502D-CCC8-5654195C07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4865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8CE1AA-5167-936B-5164-1D87EEC426A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434865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DE8EE4-A704-596D-71CB-BBA14A8EA0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60172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94CC450-0CF1-A33C-ECB9-518B544DD1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60172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E30B0CF-ED03-C233-E8A3-BDB2E832E05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16017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E31CA9C-BE9E-3585-0102-638AF2FE3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9690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411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9F3116-F61D-569F-C79E-BD6ECAFBAA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664" y="1854987"/>
            <a:ext cx="4494478" cy="134937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pPr lvl="0"/>
            <a:r>
              <a:rPr lang="en-US" noProof="0"/>
              <a:t>Function and biography go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4BC4CF6-0A82-16BF-1752-C31584BECF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7211" y="998807"/>
            <a:ext cx="1835182" cy="17756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33B8E0B-B116-29CD-1C47-F7AFB5C42F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E14E46-73B7-2F98-FC80-3CC492056D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nl-BE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06DFD9-5A6F-BEC8-A366-8FC550027E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7C787-B967-7390-3ECB-235D523DC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title]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4B0EA4F-2B85-77E7-4D31-0DF0BBB3E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6664" y="1503536"/>
            <a:ext cx="4494478" cy="336651"/>
          </a:xfrm>
        </p:spPr>
        <p:txBody>
          <a:bodyPr wrap="square" anchor="b">
            <a:noAutofit/>
          </a:bodyPr>
          <a:lstStyle>
            <a:lvl1pPr marL="0" indent="0" rtl="0">
              <a:lnSpc>
                <a:spcPct val="100000"/>
              </a:lnSpc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Name of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D9B8-DA7B-9421-3D3E-3CFD71A8BB46}"/>
              </a:ext>
            </a:extLst>
          </p:cNvPr>
          <p:cNvSpPr txBox="1"/>
          <p:nvPr userDrawn="1"/>
        </p:nvSpPr>
        <p:spPr>
          <a:xfrm>
            <a:off x="7271025" y="3448426"/>
            <a:ext cx="72616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rtl="0">
              <a:spcAft>
                <a:spcPts val="600"/>
              </a:spcAft>
              <a:buClr>
                <a:schemeClr val="accent1"/>
              </a:buClr>
            </a:pPr>
            <a:r>
              <a:rPr lang="en-US" sz="900">
                <a:hlinkClick r:id="rId5"/>
              </a:rPr>
              <a:t>bekaert.com</a:t>
            </a:r>
            <a:endParaRPr lang="en-US" sz="9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61B122-1FD3-E9BB-9EBF-F875FBB484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2786" y="3644315"/>
            <a:ext cx="854400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Phone number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0B8DE4D-4541-463D-6554-5889CA51F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8433" y="3858671"/>
            <a:ext cx="828753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Email address</a:t>
            </a:r>
          </a:p>
        </p:txBody>
      </p:sp>
    </p:spTree>
    <p:extLst>
      <p:ext uri="{BB962C8B-B14F-4D97-AF65-F5344CB8AC3E}">
        <p14:creationId xmlns:p14="http://schemas.microsoft.com/office/powerpoint/2010/main" val="198539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93F2A-D115-29C3-660F-908974DDE3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40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93F2A-D115-29C3-660F-908974DD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AFE34A33-9EBA-C1FE-3993-44C9D8E6BE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029803" y="2109591"/>
            <a:ext cx="3084394" cy="7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3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64747-2D62-05FE-187D-E5C9EF8FA5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64747-2D62-05FE-187D-E5C9EF8F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60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651EA5-DA5F-4D53-AA49-D00D96557B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7593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47" imgH="348" progId="TCLayout.ActiveDocument.1">
                  <p:embed/>
                </p:oleObj>
              </mc:Choice>
              <mc:Fallback>
                <p:oleObj name="think-cell Slide" r:id="rId2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651EA5-DA5F-4D53-AA49-D00D96557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1519" y="987425"/>
            <a:ext cx="8641655" cy="3671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</a:t>
            </a:r>
          </a:p>
          <a:p>
            <a:pPr lvl="4"/>
            <a:r>
              <a:rPr lang="en-US" noProof="0"/>
              <a:t>Level 5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</a:t>
            </a:r>
          </a:p>
          <a:p>
            <a:pPr lvl="7"/>
            <a:r>
              <a:rPr lang="en-US" noProof="0"/>
              <a:t>Level 8</a:t>
            </a:r>
          </a:p>
          <a:p>
            <a:pPr lvl="8"/>
            <a:r>
              <a:rPr lang="en-US" noProof="0"/>
              <a:t>Level 9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3B2796-402D-93C3-7A0A-6A0B4C04E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4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nl-BE"/>
          </a:p>
        </p:txBody>
      </p:sp>
      <p:sp>
        <p:nvSpPr>
          <p:cNvPr id="18" name="Titelplatzhalter 17">
            <a:extLst>
              <a:ext uri="{FF2B5EF4-FFF2-40B4-BE49-F238E27FC236}">
                <a16:creationId xmlns:a16="http://schemas.microsoft.com/office/drawing/2014/main" id="{D0B96C90-4EDF-D36F-E73B-E0377F13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3"/>
            <a:ext cx="6690486" cy="195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D96B-B114-4206-BD47-1FD65CACE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86F58-1501-6D04-430A-A8E96D01D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33524" y="4672881"/>
            <a:ext cx="2057400" cy="2023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80" r:id="rId2"/>
    <p:sldLayoutId id="2147483857" r:id="rId3"/>
    <p:sldLayoutId id="2147483883" r:id="rId4"/>
    <p:sldLayoutId id="2147483844" r:id="rId5"/>
    <p:sldLayoutId id="2147483853" r:id="rId6"/>
    <p:sldLayoutId id="2147483881" r:id="rId7"/>
    <p:sldLayoutId id="2147483828" r:id="rId8"/>
    <p:sldLayoutId id="2147483850" r:id="rId9"/>
    <p:sldLayoutId id="2147483849" r:id="rId10"/>
    <p:sldLayoutId id="2147483872" r:id="rId11"/>
    <p:sldLayoutId id="2147483650" r:id="rId12"/>
    <p:sldLayoutId id="2147483861" r:id="rId13"/>
    <p:sldLayoutId id="2147483859" r:id="rId14"/>
    <p:sldLayoutId id="2147483858" r:id="rId15"/>
    <p:sldLayoutId id="2147483878" r:id="rId16"/>
    <p:sldLayoutId id="2147483882" r:id="rId17"/>
    <p:sldLayoutId id="2147483876" r:id="rId18"/>
    <p:sldLayoutId id="2147483873" r:id="rId19"/>
    <p:sldLayoutId id="214748385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BE" sz="1400" b="0" i="0" kern="1200" spc="-30" baseline="0" dirty="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2563" marR="0" indent="-182563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1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2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1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0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itchFamily="2" charset="2"/>
        <a:buChar char="-"/>
        <a:tabLst/>
        <a:defRPr sz="9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marR="0" indent="-1440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4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2557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35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1766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orient="horz" pos="2935" userDrawn="1">
          <p15:clr>
            <a:srgbClr val="A4A3A4"/>
          </p15:clr>
        </p15:guide>
        <p15:guide id="11" orient="horz" pos="395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  <p15:guide id="13" orient="horz" pos="30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8A4BFD1-A4F7-4F98-9027-C33AE6F78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299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8A4BFD1-A4F7-4F98-9027-C33AE6F7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F0A943-191C-9060-9CE8-8DC332C3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0">
                <a:solidFill>
                  <a:srgbClr val="FFFFFF"/>
                </a:solidFill>
              </a:rPr>
              <a:t>Berbasis ESP32 | 220 VAC | Kapasitor 2 uF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06119-122D-39FB-C00C-A3F7B8710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00" b="0">
                <a:solidFill>
                  <a:srgbClr val="FFFFFF"/>
                </a:solidFill>
              </a:rPr>
              <a:t>Andre Rizkyna Muharam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D50FBF-0B99-46D7-8409-E3D9376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FFFFFF"/>
                </a:solidFill>
              </a:rPr>
              <a:t>Sistem Monitoring
Kapasitansi Kapasitor Motor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B3A7E4-5C6A-F3E5-CC67-62CFCBE53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</a:rPr>
              <a:t>Studi Kasus: Mesin CA, PT Bekaert</a:t>
            </a:r>
          </a:p>
        </p:txBody>
      </p:sp>
    </p:spTree>
    <p:extLst>
      <p:ext uri="{BB962C8B-B14F-4D97-AF65-F5344CB8AC3E}">
        <p14:creationId xmlns:p14="http://schemas.microsoft.com/office/powerpoint/2010/main" val="41878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3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11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Kondisi kapasitor motor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Peluang preventive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Tujuan &amp; Ruang Lingkup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Monitoring otomatis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Studi kasus mesin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Metode Pengukuran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220 VAC, 50 Hz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CT clamp + voltage transducer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Sistem &amp; Komponen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ESP32, ADC, sensor isolasi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Dashboard web dan data historis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Highlight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429767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4389120"/>
            <a:ext cx="3931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1">
                <a:solidFill>
                  <a:srgbClr val="915534"/>
                </a:solidFill>
              </a:rPr>
              <a:t>Kapasitor nominal 2 uF, tegangan kerja 220 VAC, warning &gt;5%, danger &gt;=10%.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50312"/>
            <a:ext cx="80467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LATAR BELAKANG DAN TUJUAN</a:t>
            </a:r>
            <a:endParaRPr sz="50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0555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371600"/>
            <a:ext cx="3931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Kapasitor motor berpengaruh terhadap starting, torsi awal, dan stabilitas operasi motor AC.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Nilai kapasitansi dapat menurun akibat panas, penuaan dielektrik, dan siklus operasi berat.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Mesin CA memiliki siklus ON/OFF, sehingga data historis dapat dimanfaatkan untuk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827430"/>
            <a:ext cx="2771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TUJUAN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1371600"/>
            <a:ext cx="402336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Merancang sistem monitoring kapasitansi otomatis berbasis ESP32.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Membaca arus dan tegangan kapasitor secara non-invasif menggunakan sensor terisolasi.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Menampilkan status kapasitor dan tren historis melalui dashboard web lokal.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Memberikan warning/danger saat nilai keluar dari batas yang ditentukan.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3536560"/>
            <a:ext cx="2834640" cy="7772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3646289"/>
            <a:ext cx="261518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>
                <a:solidFill>
                  <a:srgbClr val="696969"/>
                </a:solidFill>
              </a:rPr>
              <a:t>Output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457" y="3797046"/>
            <a:ext cx="261518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88F9-2636-86E6-5717-3043C030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C95DF-F54A-AC8C-0520-E39D0D218D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661B6-132F-213E-E70C-26E23F1BDB60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C5A9-663D-F1D7-18F7-0EE562A950FF}"/>
              </a:ext>
            </a:extLst>
          </p:cNvPr>
          <p:cNvSpPr txBox="1"/>
          <p:nvPr/>
        </p:nvSpPr>
        <p:spPr>
          <a:xfrm>
            <a:off x="365760" y="1826214"/>
            <a:ext cx="8046720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SPESIFIKASI SISTEM YANG DIREVISI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B1AC57-9763-6663-B553-2704D3CA14BB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Tegangan</a:t>
            </a:r>
            <a:r>
              <a:rPr sz="1000" b="1" dirty="0">
                <a:solidFill>
                  <a:srgbClr val="696969"/>
                </a:solidFill>
              </a:rPr>
              <a:t> </a:t>
            </a:r>
            <a:r>
              <a:rPr sz="1000" b="1" dirty="0" err="1">
                <a:solidFill>
                  <a:srgbClr val="696969"/>
                </a:solidFill>
              </a:rPr>
              <a:t>Kerja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" y="1152144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FF5B2D"/>
                </a:solidFill>
              </a:rPr>
              <a:t>220 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95043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 err="1">
                <a:solidFill>
                  <a:srgbClr val="000000"/>
                </a:solidFill>
              </a:rPr>
              <a:t>Pengukuran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dilakukan</a:t>
            </a:r>
            <a:r>
              <a:rPr sz="1050" b="0" dirty="0">
                <a:solidFill>
                  <a:srgbClr val="000000"/>
                </a:solidFill>
              </a:rPr>
              <a:t> pada terminal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/motor </a:t>
            </a:r>
            <a:r>
              <a:rPr sz="1050" b="0" dirty="0" err="1">
                <a:solidFill>
                  <a:srgbClr val="000000"/>
                </a:solidFill>
              </a:rPr>
              <a:t>sesuai</a:t>
            </a:r>
            <a:r>
              <a:rPr sz="1050" b="0" dirty="0">
                <a:solidFill>
                  <a:srgbClr val="000000"/>
                </a:solidFill>
              </a:rPr>
              <a:t> data </a:t>
            </a:r>
            <a:r>
              <a:rPr sz="1050" b="0" dirty="0" err="1">
                <a:solidFill>
                  <a:srgbClr val="000000"/>
                </a:solidFill>
              </a:rPr>
              <a:t>terbaru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Kapasitor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206668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2 </a:t>
            </a:r>
            <a:r>
              <a:rPr sz="2200" b="1" dirty="0" err="1">
                <a:solidFill>
                  <a:srgbClr val="00A550"/>
                </a:solidFill>
              </a:rPr>
              <a:t>uF</a:t>
            </a:r>
            <a:endParaRPr sz="2200" b="1" dirty="0">
              <a:solidFill>
                <a:srgbClr val="00A5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5768" y="1581912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>
                <a:solidFill>
                  <a:srgbClr val="000000"/>
                </a:solidFill>
              </a:rPr>
              <a:t>Nilai nominal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 yang </a:t>
            </a:r>
            <a:r>
              <a:rPr sz="1050" b="0" dirty="0" err="1">
                <a:solidFill>
                  <a:srgbClr val="000000"/>
                </a:solidFill>
              </a:rPr>
              <a:t>digunakan</a:t>
            </a:r>
            <a:r>
              <a:rPr sz="1050" b="0" dirty="0">
                <a:solidFill>
                  <a:srgbClr val="000000"/>
                </a:solidFill>
              </a:rPr>
              <a:t> pada </a:t>
            </a:r>
            <a:r>
              <a:rPr sz="1050" b="0" dirty="0" err="1">
                <a:solidFill>
                  <a:srgbClr val="000000"/>
                </a:solidFill>
              </a:rPr>
              <a:t>mesin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960120"/>
            <a:ext cx="182880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001268"/>
            <a:ext cx="16093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Frekuensi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183030"/>
            <a:ext cx="16093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54480"/>
            <a:ext cx="160934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Frekuensi listrik untuk perhitungan kapasitansi.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60120"/>
            <a:ext cx="173736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1001268"/>
            <a:ext cx="151790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Jumlah Motor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220724"/>
            <a:ext cx="151790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915534"/>
                </a:solidFill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554480"/>
            <a:ext cx="151790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>
                <a:solidFill>
                  <a:srgbClr val="000000"/>
                </a:solidFill>
              </a:rPr>
              <a:t>Monitoring </a:t>
            </a:r>
            <a:r>
              <a:rPr sz="1050" b="0" dirty="0" err="1">
                <a:solidFill>
                  <a:srgbClr val="000000"/>
                </a:solidFill>
              </a:rPr>
              <a:t>dilakukan</a:t>
            </a:r>
            <a:r>
              <a:rPr sz="1050" b="0" dirty="0">
                <a:solidFill>
                  <a:srgbClr val="000000"/>
                </a:solidFill>
              </a:rPr>
              <a:t> per motor </a:t>
            </a:r>
            <a:r>
              <a:rPr sz="1050" b="0" dirty="0" err="1">
                <a:solidFill>
                  <a:srgbClr val="000000"/>
                </a:solidFill>
              </a:rPr>
              <a:t>dalam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tampilan</a:t>
            </a:r>
            <a:r>
              <a:rPr sz="1050" b="0" dirty="0">
                <a:solidFill>
                  <a:srgbClr val="000000"/>
                </a:solidFill>
              </a:rPr>
              <a:t> grid.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4"/>
            <a:ext cx="39953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BATAS STATUS KAPASITOR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" y="2926080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063240"/>
          <a:ext cx="4389117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Rentang kapasitansi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&lt;=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1,90 - 2,10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Warning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&lt;1,90 uF atau &gt;2,10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Danger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&gt;= 10%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&lt;1,80 uF atau &gt;2,20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74920" y="2565252"/>
            <a:ext cx="24808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CATATAN REVISI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92608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3063240"/>
            <a:ext cx="37490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Bagian proposal yang sebelumnya menyebut 380 V / 3-fasa disesuaikan menjadi 220 VAC.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Range sensor tegangan cukup 0-250 VAC atau 0-300 VAC dengan isolasi galvanis.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Range CT sebaiknya kecil, sekitar 0-0,5 A atau 0-1 A agar pembacaan arus kapasitor 2 uF lebih presisi.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990191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METODOLOGI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PENGUKURAN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KAPASITANSI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0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PERHITUNGAN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FF5B2D"/>
                </a:solidFill>
              </a:rPr>
              <a:t>C = I / (2 pi x f x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40233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I = </a:t>
            </a:r>
            <a:r>
              <a:rPr sz="1300" dirty="0" err="1">
                <a:solidFill>
                  <a:srgbClr val="000000"/>
                </a:solidFill>
              </a:rPr>
              <a:t>arus</a:t>
            </a:r>
            <a:r>
              <a:rPr sz="1300" dirty="0">
                <a:solidFill>
                  <a:srgbClr val="000000"/>
                </a:solidFill>
              </a:rPr>
              <a:t> RMS pada </a:t>
            </a:r>
            <a:r>
              <a:rPr sz="1300" dirty="0" err="1">
                <a:solidFill>
                  <a:srgbClr val="000000"/>
                </a:solidFill>
              </a:rPr>
              <a:t>jalur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kapasitor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dari</a:t>
            </a:r>
            <a:r>
              <a:rPr sz="1300" dirty="0">
                <a:solidFill>
                  <a:srgbClr val="000000"/>
                </a:solidFill>
              </a:rPr>
              <a:t> CT clamp.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V = </a:t>
            </a:r>
            <a:r>
              <a:rPr sz="1300" dirty="0" err="1">
                <a:solidFill>
                  <a:srgbClr val="000000"/>
                </a:solidFill>
              </a:rPr>
              <a:t>tegangan</a:t>
            </a:r>
            <a:r>
              <a:rPr sz="1300" dirty="0">
                <a:solidFill>
                  <a:srgbClr val="000000"/>
                </a:solidFill>
              </a:rPr>
              <a:t> RMS pada terminal </a:t>
            </a:r>
            <a:r>
              <a:rPr sz="1300" dirty="0" err="1">
                <a:solidFill>
                  <a:srgbClr val="000000"/>
                </a:solidFill>
              </a:rPr>
              <a:t>kapasitor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dari</a:t>
            </a:r>
            <a:r>
              <a:rPr sz="1300" dirty="0">
                <a:solidFill>
                  <a:srgbClr val="000000"/>
                </a:solidFill>
              </a:rPr>
              <a:t> voltage transducer.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f = </a:t>
            </a:r>
            <a:r>
              <a:rPr sz="1300" dirty="0" err="1">
                <a:solidFill>
                  <a:srgbClr val="000000"/>
                </a:solidFill>
              </a:rPr>
              <a:t>frekuensi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listrik</a:t>
            </a:r>
            <a:r>
              <a:rPr sz="1300" dirty="0">
                <a:solidFill>
                  <a:srgbClr val="000000"/>
                </a:solidFill>
              </a:rPr>
              <a:t>, </a:t>
            </a:r>
            <a:r>
              <a:rPr sz="1300" dirty="0" err="1">
                <a:solidFill>
                  <a:srgbClr val="000000"/>
                </a:solidFill>
              </a:rPr>
              <a:t>digunakan</a:t>
            </a:r>
            <a:r>
              <a:rPr sz="1300" dirty="0">
                <a:solidFill>
                  <a:srgbClr val="000000"/>
                </a:solidFill>
              </a:rPr>
              <a:t> 50 Hz.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-   Hasil C </a:t>
            </a:r>
            <a:r>
              <a:rPr sz="1300" dirty="0" err="1">
                <a:solidFill>
                  <a:srgbClr val="000000"/>
                </a:solidFill>
              </a:rPr>
              <a:t>dikonversi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ke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mikrofarad</a:t>
            </a:r>
            <a:r>
              <a:rPr sz="1300" dirty="0">
                <a:solidFill>
                  <a:srgbClr val="000000"/>
                </a:solidFill>
              </a:rPr>
              <a:t> </a:t>
            </a:r>
            <a:r>
              <a:rPr sz="1300" dirty="0" err="1">
                <a:solidFill>
                  <a:srgbClr val="000000"/>
                </a:solidFill>
              </a:rPr>
              <a:t>untuk</a:t>
            </a:r>
            <a:r>
              <a:rPr sz="1300" dirty="0">
                <a:solidFill>
                  <a:srgbClr val="000000"/>
                </a:solidFill>
              </a:rPr>
              <a:t>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5B2D"/>
                </a:solidFill>
              </a:rPr>
              <a:t>CONTOH UNTUK 2 UF / 220 VAC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1417320"/>
            <a:ext cx="34747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00A550"/>
                </a:solidFill>
              </a:rPr>
              <a:t>I = 2 pi x 50 x 2e-6 x 220
I ≈ 0,138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Karena arus kapasitor kecil, sensor arus harus memiliki range kecil dan resolusi cukup.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CT harus dipasang pada satu kabel kapasitor, bukan kabel utama motor.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Voltage transducer membaca terminal kapasitor, bukan hanya sumber utama.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Kapasitor
2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CT Clamp
I 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Voltage
Transducer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Hitung 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77639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24528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4224528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BB6-5F9F-9A15-B406-53A16B71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D09B1-0F87-2485-CA14-C85E8C0CD5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783CC-1A9D-66E6-FB0A-E208C48402CA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D992-1E90-F5CF-18AA-C4BC8BFF42E5}"/>
              </a:ext>
            </a:extLst>
          </p:cNvPr>
          <p:cNvSpPr txBox="1"/>
          <p:nvPr/>
        </p:nvSpPr>
        <p:spPr>
          <a:xfrm>
            <a:off x="365760" y="1759583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t-IT" sz="5400" b="1" dirty="0">
                <a:solidFill>
                  <a:schemeClr val="bg1"/>
                </a:solidFill>
              </a:rPr>
              <a:t>ALUR AKUISISI DATA PER SIKLUS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8F9EA82-066F-6B60-5EBF-AC104C0A1F9D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30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0" y="424934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359843"/>
            <a:ext cx="457199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19" y="1359843"/>
            <a:ext cx="45720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1
Deteksi
Motor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99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
Tunda
Inrush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
Baca
I &amp; V 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4
Hitung
C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0069" y="783771"/>
            <a:ext cx="1253692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</a:rPr>
              <a:t>5
</a:t>
            </a:r>
            <a:r>
              <a:rPr sz="1100" b="1" dirty="0" err="1">
                <a:solidFill>
                  <a:srgbClr val="000000"/>
                </a:solidFill>
              </a:rPr>
              <a:t>Bandi</a:t>
            </a:r>
            <a:r>
              <a:rPr lang="en-US" sz="1100" b="1" dirty="0" err="1">
                <a:solidFill>
                  <a:srgbClr val="000000"/>
                </a:solidFill>
              </a:rPr>
              <a:t>n</a:t>
            </a:r>
            <a:r>
              <a:rPr sz="1100" b="1" dirty="0" err="1">
                <a:solidFill>
                  <a:srgbClr val="000000"/>
                </a:solidFill>
              </a:rPr>
              <a:t>g</a:t>
            </a:r>
            <a:r>
              <a:rPr lang="en-US" sz="1100" b="1" dirty="0" err="1">
                <a:solidFill>
                  <a:srgbClr val="000000"/>
                </a:solidFill>
              </a:rPr>
              <a:t>k</a:t>
            </a:r>
            <a:r>
              <a:rPr lang="id-ID" sz="1100" b="1" dirty="0">
                <a:solidFill>
                  <a:srgbClr val="000000"/>
                </a:solidFill>
              </a:rPr>
              <a:t>a</a:t>
            </a:r>
            <a:r>
              <a:rPr sz="1100" b="1" dirty="0">
                <a:solidFill>
                  <a:srgbClr val="000000"/>
                </a:solidFill>
              </a:rPr>
              <a:t>n
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783771"/>
            <a:ext cx="1253691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6
Kirim ke
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92532"/>
            <a:ext cx="24679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STATE MACHINE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" y="2658291"/>
            <a:ext cx="365759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841171"/>
            <a:ext cx="4206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WAIT: sistem menunggu motor aktif dan jadwal sampling.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STABILIZE: pembacaan ditunda beberapa detik setelah motor ON.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SAMPLE: ESP32 membaca arus dan tegangan kapasitor beberapa window.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CALCULATE: kapasitansi dihitung dan disimpan bersama timestamp.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76033"/>
            <a:ext cx="37773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KEAMANAN PEMBACAAN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658291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841171"/>
            <a:ext cx="393192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ESP32 tidak terhubung langsung ke 220 VAC.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Semua input berasal dari sensor dengan isolasi galvanis.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Kabel sinyal shielded dan dipisahkan dari kabel power.</a:t>
            </a:r>
          </a:p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Fuse dan enclosure digunakan pada sisi panel.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D32C-4F3C-DC3B-DD40-87F5D448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13663-511B-9B5C-6AB8-033FF78258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13C4-FD1B-9F8B-B1B6-378A25BAF05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30255-AD42-BFAD-65E4-C85F5B9BB1F0}"/>
              </a:ext>
            </a:extLst>
          </p:cNvPr>
          <p:cNvSpPr txBox="1"/>
          <p:nvPr/>
        </p:nvSpPr>
        <p:spPr>
          <a:xfrm>
            <a:off x="365760" y="2673983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ARSITEKTUR SISTEM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9DE868-2021-6A51-CCF2-EFA7185BBB0C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6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105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841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129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8105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841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129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105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841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29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412" y="317291"/>
            <a:ext cx="19202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>
                <a:solidFill>
                  <a:srgbClr val="FF5B2D"/>
                </a:solidFill>
              </a:rPr>
              <a:t>Zona </a:t>
            </a:r>
            <a:r>
              <a:rPr sz="1300" b="1" dirty="0" err="1">
                <a:solidFill>
                  <a:srgbClr val="FF5B2D"/>
                </a:solidFill>
              </a:rPr>
              <a:t>Tegangan</a:t>
            </a:r>
            <a:r>
              <a:rPr sz="1300" b="1" dirty="0">
                <a:solidFill>
                  <a:srgbClr val="FF5B2D"/>
                </a:solidFill>
              </a:rPr>
              <a:t> 220 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272" y="470263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>
                <a:solidFill>
                  <a:srgbClr val="FF5B2D"/>
                </a:solidFill>
              </a:rPr>
              <a:t>Sensor </a:t>
            </a:r>
            <a:r>
              <a:rPr sz="1300" b="1" dirty="0" err="1">
                <a:solidFill>
                  <a:srgbClr val="FF5B2D"/>
                </a:solidFill>
              </a:rPr>
              <a:t>Terisolasi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8572" y="307957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 err="1">
                <a:solidFill>
                  <a:srgbClr val="FF5B2D"/>
                </a:solidFill>
              </a:rPr>
              <a:t>Kontrol</a:t>
            </a:r>
            <a:r>
              <a:rPr sz="1300" b="1" dirty="0">
                <a:solidFill>
                  <a:srgbClr val="FF5B2D"/>
                </a:solidFill>
              </a:rPr>
              <a:t> </a:t>
            </a:r>
            <a:r>
              <a:rPr sz="1300" b="1" dirty="0" err="1">
                <a:solidFill>
                  <a:srgbClr val="FF5B2D"/>
                </a:solidFill>
              </a:rPr>
              <a:t>Tegangan</a:t>
            </a:r>
            <a:r>
              <a:rPr sz="1300" b="1" dirty="0">
                <a:solidFill>
                  <a:srgbClr val="FF5B2D"/>
                </a:solidFill>
              </a:rPr>
              <a:t> </a:t>
            </a:r>
            <a:r>
              <a:rPr sz="1300" b="1" dirty="0" err="1">
                <a:solidFill>
                  <a:srgbClr val="FF5B2D"/>
                </a:solidFill>
              </a:rPr>
              <a:t>Rendah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992" y="413233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>
                <a:solidFill>
                  <a:srgbClr val="FF5B2D"/>
                </a:solidFill>
              </a:rPr>
              <a:t>Data &amp; </a:t>
            </a:r>
            <a:r>
              <a:rPr sz="1300" b="1" dirty="0" err="1">
                <a:solidFill>
                  <a:srgbClr val="FF5B2D"/>
                </a:solidFill>
              </a:rPr>
              <a:t>Visualisasi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6572" y="8360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01
Kapasitor 2 uF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12572" y="8360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</a:rPr>
              <a:t>CT + VT
I/V RMS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2812" y="8360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</a:rPr>
              <a:t>ADS1115
ADC 16-bit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7292" y="8360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172" y="8360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572" y="17504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02
Kapasitor 2 uF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2572" y="17504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CT + VT
I/V 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2812" y="17504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ADS1115
ADC 16-bit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7292" y="17504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3172" y="17504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572" y="26648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... 30
Kapasitor 2 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2572" y="26648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CT + VT
I/V RMS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2812" y="26648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ADS1115
ADC 16-bit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7292" y="26648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3172" y="26648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72" y="3519787"/>
            <a:ext cx="24250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UTAMA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6572" y="3899262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572" y="4063855"/>
            <a:ext cx="8046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</a:rPr>
              <a:t>Tidak </a:t>
            </a:r>
            <a:r>
              <a:rPr sz="1300" b="0" dirty="0" err="1">
                <a:solidFill>
                  <a:srgbClr val="000000"/>
                </a:solidFill>
              </a:rPr>
              <a:t>ada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koneksi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langsung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antara</a:t>
            </a:r>
            <a:r>
              <a:rPr sz="1300" b="0" dirty="0">
                <a:solidFill>
                  <a:srgbClr val="000000"/>
                </a:solidFill>
              </a:rPr>
              <a:t> ESP32 dan 220 VAC. </a:t>
            </a:r>
            <a:r>
              <a:rPr sz="1300" b="0" dirty="0" err="1">
                <a:solidFill>
                  <a:srgbClr val="000000"/>
                </a:solidFill>
              </a:rPr>
              <a:t>Sinyal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masuk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ke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sisi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kontrol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melalui</a:t>
            </a:r>
            <a:r>
              <a:rPr sz="1300" b="0" dirty="0">
                <a:solidFill>
                  <a:srgbClr val="000000"/>
                </a:solidFill>
              </a:rPr>
              <a:t> sensor </a:t>
            </a:r>
            <a:r>
              <a:rPr sz="1300" b="0" dirty="0" err="1">
                <a:solidFill>
                  <a:srgbClr val="000000"/>
                </a:solidFill>
              </a:rPr>
              <a:t>terisolasi</a:t>
            </a:r>
            <a:r>
              <a:rPr sz="1300" b="0" dirty="0">
                <a:solidFill>
                  <a:srgbClr val="000000"/>
                </a:solidFill>
              </a:rPr>
              <a:t>, </a:t>
            </a:r>
            <a:r>
              <a:rPr sz="1300" b="0" dirty="0" err="1">
                <a:solidFill>
                  <a:srgbClr val="000000"/>
                </a:solidFill>
              </a:rPr>
              <a:t>kemudian</a:t>
            </a:r>
            <a:r>
              <a:rPr sz="1300" b="0" dirty="0">
                <a:solidFill>
                  <a:srgbClr val="000000"/>
                </a:solidFill>
              </a:rPr>
              <a:t> </a:t>
            </a:r>
            <a:r>
              <a:rPr sz="1300" b="0" dirty="0" err="1">
                <a:solidFill>
                  <a:srgbClr val="000000"/>
                </a:solidFill>
              </a:rPr>
              <a:t>dibaca</a:t>
            </a:r>
            <a:r>
              <a:rPr sz="1300" b="0" dirty="0">
                <a:solidFill>
                  <a:srgbClr val="000000"/>
                </a:solidFill>
              </a:rPr>
              <a:t> oleh ADC dan </a:t>
            </a:r>
            <a:r>
              <a:rPr sz="1300" b="0" dirty="0" err="1">
                <a:solidFill>
                  <a:srgbClr val="000000"/>
                </a:solidFill>
              </a:rPr>
              <a:t>diproses</a:t>
            </a:r>
            <a:r>
              <a:rPr sz="1300" b="0" dirty="0">
                <a:solidFill>
                  <a:srgbClr val="000000"/>
                </a:solidFill>
              </a:rPr>
              <a:t> oleh ESP32.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CFD-D6E9-366F-39E9-6F5D7171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18336-8826-C6F7-74F5-6FE85AF9C7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942F1-73CB-EAF3-CD18-E7AB3289340B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7851B-0A1E-61E9-2F87-BDB9D041F3A2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DAFTAR KOMPONEN UTAMA</a:t>
            </a:r>
            <a:r>
              <a:rPr lang="en-US" sz="5400" b="1" dirty="0">
                <a:solidFill>
                  <a:schemeClr val="bg1"/>
                </a:solidFill>
              </a:rPr>
              <a:t> PER MESIN</a:t>
            </a:r>
            <a:endParaRPr lang="id-ID" sz="54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5AF9698-8F44-84BB-6618-F4981FC15FA3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36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267470"/>
              </p:ext>
            </p:extLst>
          </p:nvPr>
        </p:nvGraphicFramePr>
        <p:xfrm>
          <a:off x="431074" y="229806"/>
          <a:ext cx="8259988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182189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ESP32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DevKit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Akuisisi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 data &amp;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komputasi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Rp63.000 – Rp</a:t>
                      </a:r>
                      <a:r>
                        <a:rPr lang="en-US" sz="800" dirty="0"/>
                        <a:t>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rajaduino/esp32-esp-32-devkit-v1-board-30-pin-wifi-bluetooth-ble-microcontroller-cp2102?extParam=ivf%3Dfalse%26keyword%3Desp32+devkit+v1+board%26search_id%3D202607130411543AD7C2EBB96FCB144YOW%26src%3Dsearch&amp;t_id=1783915925149&amp;t_st=1&amp;t_pp=search_result&amp;t_efo=search_pure_goods_card&amp;t_ef=goods_search&amp;t_sm=&amp;t_spt=search_result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PZEM-014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Membaca arus, tegangan, frekuensi, power factor, dan daya tiap kapasitor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Rp65.000 – Rp.80.000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Rp650.000 – Rp.800.000</a:t>
                      </a:r>
                    </a:p>
                    <a:p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automa88/pzem-004t-10a-multifunction-ac-220v-volt-ampere-energy-meter-10a-ttl?extParam=ivf%3Dfalse%26keyword%3Dpzem-014%26search_id%3D2026071307173075639EBFFD530F39FWN5%26src%3Dsearch&amp;t_id=1783915925149&amp;t_st=14&amp;t_pp=search_result&amp;t_efo=search_pure_goods_card&amp;t_ef=goods_search&amp;t_sm=&amp;t_spt=search_result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CD74HC4067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Multiplexer jalur TX dan RX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2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Rp15.000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Rp150.000</a:t>
                      </a:r>
                    </a:p>
                    <a:p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solarperfect/cd74hc4067-16-channel-analog-digital-multiplexer-1730816060399387932?extParam=ivf%3Dfalse%26keyword%3Dcd74hc4067%26search_id%3D20260713072735D81F9C1BE2E0891B4VOU%26src%3Dsearch&amp;t_id=1783915925149&amp;t_st=15&amp;t_pp=search_result&amp;t_efo=search_pure_goods_card&amp;t_ef=goods_search&amp;t_sm=&amp;t_spt=search_result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98E6-EA39-354F-694F-271575C8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D5ED7-A39C-043A-D4A7-605B0C16DC0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0FA5-9144-774A-D050-76EEBC0D2239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6083CA-AE9D-DC3D-5A51-3EEDE02A0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084711"/>
              </p:ext>
            </p:extLst>
          </p:nvPr>
        </p:nvGraphicFramePr>
        <p:xfrm>
          <a:off x="431076" y="147511"/>
          <a:ext cx="8276031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407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087485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811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dirty="0"/>
                        <a:t>Fuse input PZEM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Proteksi input tegangan PZEM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10 pcs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</a:rPr>
                        <a:t>Rp12.500</a:t>
                      </a:r>
                      <a:endParaRPr kumimoji="0" lang="id-ID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kaert Tex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</a:rPr>
                        <a:t>Rp125.000</a:t>
                      </a:r>
                      <a:endParaRPr kumimoji="0" lang="id-ID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kaert Tex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automa88/fuse-tabung-keramik-5x20mm-0-25a-1a-2-5a-3a-3-15a-6a-7a-8a-12a-250v-1a?extParam=ivf%3Dfalse%26keyword%3Dfuse+250+vac%2C+0%2C5a+%E2%80%93+1a%26search_id%3D2026071307371800EC53C4682D3632BB7E%26src%3Dsearch&amp;t_id=1783915925149&amp;t_st=16&amp;t_pp=search_result&amp;t_efo=search_pure_goods_card&amp;t_ef=goods_search&amp;t_sm=&amp;t_spt=search_result</a:t>
                      </a:r>
                    </a:p>
                    <a:p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570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Fuse Input power supply 220VAC </a:t>
                      </a:r>
                    </a:p>
                    <a:p>
                      <a:pPr>
                        <a:buNone/>
                      </a:pPr>
                      <a:r>
                        <a:rPr lang="id-ID" sz="700" dirty="0"/>
                        <a:t>250 VAC, 0,5A – 1A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700" dirty="0"/>
                        <a:t>Melindungi power supply 5V dari short atau arus lebih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 pcs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Rp12.500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Rp12.500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automa88/fuse-tabung-keramik-5x20mm-0-25a-1a-2-5a-3a-3-15a-6a-7a-8a-12a-250v-1a?extParam=ivf%3Dfalse%26keyword%3Dfuse+250+vac%2C+0%2C5a+%E2%80%93+1a%26search_id%3D2026071307371800EC53C4682D3632BB7E%26src%3Dsearch&amp;t_id=1783915925149&amp;t_st=16&amp;t_pp=search_result&amp;t_efo=search_pure_goods_card&amp;t_ef=goods_search&amp;t_sm=&amp;t_spt=search_result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095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Fuse </a:t>
                      </a:r>
                      <a:r>
                        <a:rPr lang="id-ID" sz="700" dirty="0"/>
                        <a:t>Output power supply 5 VDC</a:t>
                      </a:r>
                      <a:endParaRPr lang="en-US" sz="700" dirty="0"/>
                    </a:p>
                    <a:p>
                      <a:pPr>
                        <a:buNone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32 VDC / 250 VAC, 2A – 3A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Melindungi ESP32, multiplexer, dan rangkaian kontrol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 pcs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</a:rPr>
                        <a:t>Rp12.500</a:t>
                      </a:r>
                      <a:endParaRPr kumimoji="0" lang="id-ID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kaert Tex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ekaert Text"/>
                          <a:ea typeface="+mn-ea"/>
                          <a:cs typeface="+mn-cs"/>
                        </a:rPr>
                        <a:t>Rp12.500</a:t>
                      </a:r>
                      <a:endParaRPr kumimoji="0" lang="id-ID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kaert Tex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automa88/fuse-tabung-keramik-5x20mm-0-25a-1a-2-5a-3a-3-15a-6a-7a-8a-12a-250v-1a?extParam=ivf%3Dfalse%26keyword%3Dfuse+250+vac%2C+0%2C5a+%E2%80%93+1a%26search_id%3D2026071307371800EC53C4682D3632BB7E%26src%3Dsearch&amp;t_id=1783915925149&amp;t_st=16&amp;t_pp=search_result&amp;t_efo=search_pure_goods_card&amp;t_ef=goods_search&amp;t_sm=&amp;t_spt=search_result</a:t>
                      </a:r>
                    </a:p>
                    <a:p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22399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Power supply sensor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>
                          <a:solidFill>
                            <a:schemeClr val="tx1"/>
                          </a:solidFill>
                        </a:rPr>
                        <a:t>Supply Power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 pcs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Rp50.000 – Rp100.000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Rp100.000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yyelectronik/power-supply-psu-5v-witching-body-kecil-5a-10a-5v-5a?extParam=ivf%3Dfalse%26keyword%3Dpower+supply+5v+5a%26search_id%3D20260713064753A02FFD91ECE5E7035A6E%26src%3Dsearch&amp;t_id=1783915925149&amp;t_st=8&amp;t_pp=search_result&amp;t_efo=search_pure_goods_card&amp;t_ef=goods_search&amp;t_sm=&amp;t_spt=search_result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3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8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8CE-B085-4AA1-6316-78599125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D1D88-CD37-595D-40C2-DD0F5DCC90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72D85-C15A-DF9C-3D23-DD5FA98B43A8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949AC-F2B1-2462-DE35-BB5DDF443FBA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DASHBOARD WEB MONITORING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1DADA4B-CAC1-57F9-EC8F-725848941F2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BD2-822A-BECC-CC8C-EB0F3FE4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C081-E684-1763-875B-8A2CA5989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82B5-0FF1-B713-09D9-D31A667445FE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9885-6602-FAF9-B643-4D9676420A80}"/>
              </a:ext>
            </a:extLst>
          </p:cNvPr>
          <p:cNvSpPr txBox="1"/>
          <p:nvPr/>
        </p:nvSpPr>
        <p:spPr>
          <a:xfrm>
            <a:off x="2801052" y="521179"/>
            <a:ext cx="3084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sz="1600" b="1" dirty="0">
                <a:solidFill>
                  <a:srgbClr val="FF5B2D"/>
                </a:solidFill>
              </a:rPr>
              <a:t>TAMPILAN GRID 30 M</a:t>
            </a:r>
            <a:r>
              <a:rPr lang="en-US" sz="1600" b="1" dirty="0">
                <a:solidFill>
                  <a:srgbClr val="FF5B2D"/>
                </a:solidFill>
              </a:rPr>
              <a:t>ESIN</a:t>
            </a:r>
            <a:endParaRPr lang="id-ID" sz="1600" b="1" dirty="0">
              <a:solidFill>
                <a:srgbClr val="FF5B2D"/>
              </a:solidFill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70CF9AB-2E3E-05B7-F82C-F5E78C6D21F3}"/>
              </a:ext>
            </a:extLst>
          </p:cNvPr>
          <p:cNvCxnSpPr/>
          <p:nvPr/>
        </p:nvCxnSpPr>
        <p:spPr>
          <a:xfrm>
            <a:off x="2348044" y="859733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1284457-C5C3-3281-5E81-9D37BF5D5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27" y="948842"/>
            <a:ext cx="7703545" cy="393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8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755685" y="4475161"/>
            <a:ext cx="2968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1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8298" y="462366"/>
            <a:ext cx="3867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MESIN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8D3A5D1-02E5-58AF-DED4-B307442E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9" y="831698"/>
            <a:ext cx="7736201" cy="3903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6E8-5925-9099-28F0-E39D411A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9DE-E4A7-B31A-0E93-8D5F5CCA6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D47B2-ABDF-43F5-38D9-6C1AA3D8D2C2}"/>
              </a:ext>
            </a:extLst>
          </p:cNvPr>
          <p:cNvSpPr txBox="1"/>
          <p:nvPr/>
        </p:nvSpPr>
        <p:spPr>
          <a:xfrm>
            <a:off x="8725227" y="4475161"/>
            <a:ext cx="3273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2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3B05D-2E04-C37E-D81F-266E319F6712}"/>
              </a:ext>
            </a:extLst>
          </p:cNvPr>
          <p:cNvSpPr txBox="1"/>
          <p:nvPr/>
        </p:nvSpPr>
        <p:spPr>
          <a:xfrm>
            <a:off x="2585461" y="462366"/>
            <a:ext cx="3973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MOTOR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BAE7DF99-ACC3-96C9-48FE-BF5466533D6F}"/>
              </a:ext>
            </a:extLst>
          </p:cNvPr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57939B3-CAC4-D534-5CDC-C68E70CD2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8" y="831698"/>
            <a:ext cx="8001000" cy="40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127F-6ED3-EF6C-1C31-ECF6A076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DE85A-AF2F-1DAC-B1E5-1AEE51BE2A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AE3-1196-04C7-CAF5-486257C1A0F4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D5AC8-B13E-2894-6CC3-CBC6DFF97CEE}"/>
              </a:ext>
            </a:extLst>
          </p:cNvPr>
          <p:cNvSpPr txBox="1"/>
          <p:nvPr/>
        </p:nvSpPr>
        <p:spPr>
          <a:xfrm>
            <a:off x="365760" y="1008469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RENCANA IMPLEMENTASI &amp; OUTPUT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D9419AE-BC6A-DA2E-4E58-6AF8F33F71F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59"/>
            <a:ext cx="37766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TAHAPAN IMPLEMENTASI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40233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130628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Validasi titik ukur 220 VAC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180920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Pemilihan sensor CT &amp; VT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1" y="231212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</a:rPr>
              <a:t>Firmware ESP32 + filtering 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1" y="281504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</a:rPr>
              <a:t>Database + dashboard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1" y="331796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</a:rPr>
              <a:t>Uji </a:t>
            </a:r>
            <a:r>
              <a:rPr sz="1300" b="0" dirty="0" err="1">
                <a:solidFill>
                  <a:srgbClr val="000000"/>
                </a:solidFill>
              </a:rPr>
              <a:t>tren</a:t>
            </a:r>
            <a:r>
              <a:rPr sz="1300" b="0" dirty="0">
                <a:solidFill>
                  <a:srgbClr val="000000"/>
                </a:solidFill>
              </a:rPr>
              <a:t> dan alarm </a:t>
            </a:r>
            <a:r>
              <a:rPr sz="1300" b="0" dirty="0" err="1">
                <a:solidFill>
                  <a:srgbClr val="000000"/>
                </a:solidFill>
              </a:rPr>
              <a:t>lapangan</a:t>
            </a:r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822959"/>
            <a:ext cx="42175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OUTPUT YANG DIHARAPKAN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1371600"/>
            <a:ext cx="39319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Nilai kapasitansi tiap motor dalam satuan uF.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Status Normal / Warning / Danger berdasarkan 2 uF dengan batas 5% dan 10%.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Data historis untuk preventive/predictive maintenance.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Dashboard lokal yang dapat dipantau oleh tim maintenance.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Dasar pengambilan keputusan penggantian kapasitor.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40480"/>
            <a:ext cx="3657600" cy="91440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3950208"/>
            <a:ext cx="34381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8"/>
            <a:ext cx="34381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00A550"/>
                </a:solidFill>
              </a:rPr>
              <a:t>Downtime turun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kaert 16-9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30000"/>
          </a:lnSpc>
          <a:defRPr sz="1200" b="0" i="0" dirty="0" err="1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800"/>
          </a:spcAft>
          <a:buClr>
            <a:schemeClr val="accent1"/>
          </a:buCl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kaert Template.potx" id="{C3DC2113-13BB-4AA1-92DD-60FE8E8D6388}" vid="{41E9FD52-EBB4-4728-A506-221858BBC2FF}"/>
    </a:ext>
  </a:extLst>
</a:theme>
</file>

<file path=ppt/theme/theme2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3BBC77-6C8D-4F96-BD4A-7EBE9C4FC3AF}">
  <we:reference id="wa200002492" version="1.0.0.3" store="en-US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653EED20D4049BE73FA4DFC0C757E" ma:contentTypeVersion="27" ma:contentTypeDescription="Create a new document." ma:contentTypeScope="" ma:versionID="6cda908bc844ad6a0fb64a82927b9163">
  <xsd:schema xmlns:xsd="http://www.w3.org/2001/XMLSchema" xmlns:xs="http://www.w3.org/2001/XMLSchema" xmlns:p="http://schemas.microsoft.com/office/2006/metadata/properties" xmlns:ns2="c1157586-506c-47f7-af62-8a4ffee0d374" xmlns:ns3="1a62c9fc-ae80-4627-9940-e6a1d8694fe3" targetNamespace="http://schemas.microsoft.com/office/2006/metadata/properties" ma:root="true" ma:fieldsID="446f716b589bf69999d94b4190989404" ns2:_="" ns3:_="">
    <xsd:import namespace="c1157586-506c-47f7-af62-8a4ffee0d374"/>
    <xsd:import namespace="1a62c9fc-ae80-4627-9940-e6a1d8694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Area" minOccurs="0"/>
                <xsd:element ref="ns2:QuestionChoice" minOccurs="0"/>
                <xsd:element ref="ns2:QuestionText" minOccurs="0"/>
                <xsd:element ref="ns2:Ques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57586-506c-47f7-af62-8a4ffee0d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e24e200-518f-4e5f-a8b5-96763afa4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Area" ma:index="25" nillable="true" ma:displayName="Area" ma:format="Dropdown" ma:internalName="Area">
      <xsd:simpleType>
        <xsd:restriction base="dms:Choice">
          <xsd:enumeration value="C&amp;B"/>
          <xsd:enumeration value="DD"/>
          <xsd:enumeration value="INFRA"/>
          <xsd:enumeration value="IPH"/>
          <xsd:enumeration value="PROC"/>
          <xsd:enumeration value="WWD"/>
          <xsd:enumeration value="GENERAL"/>
        </xsd:restriction>
      </xsd:simpleType>
    </xsd:element>
    <xsd:element name="QuestionChoice" ma:index="26" nillable="true" ma:displayName="Question Choice" ma:format="Dropdown" ma:internalName="QuestionChoice">
      <xsd:simpleType>
        <xsd:restriction base="dms:Text">
          <xsd:maxLength value="255"/>
        </xsd:restriction>
      </xsd:simpleType>
    </xsd:element>
    <xsd:element name="QuestionText" ma:index="27" nillable="true" ma:displayName="Question Text" ma:format="Dropdown" ma:internalName="QuestionText">
      <xsd:simpleType>
        <xsd:restriction base="dms:Text">
          <xsd:maxLength value="255"/>
        </xsd:restriction>
      </xsd:simpleType>
    </xsd:element>
    <xsd:element name="QuestionDate" ma:index="28" nillable="true" ma:displayName="Question Date" ma:format="Dropdown" ma:internalName="QuestionDat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2c9fc-ae80-4627-9940-e6a1d8694fe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1ce113-e953-47d7-aa69-ba7451fc0d99}" ma:internalName="TaxCatchAll" ma:showField="CatchAllData" ma:web="1a62c9fc-ae80-4627-9940-e6a1d8694f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uestionText xmlns="c1157586-506c-47f7-af62-8a4ffee0d374" xsi:nil="true"/>
    <_Flow_SignoffStatus xmlns="c1157586-506c-47f7-af62-8a4ffee0d374" xsi:nil="true"/>
    <TaxCatchAll xmlns="1a62c9fc-ae80-4627-9940-e6a1d8694fe3" xsi:nil="true"/>
    <lcf76f155ced4ddcb4097134ff3c332f xmlns="c1157586-506c-47f7-af62-8a4ffee0d374">
      <Terms xmlns="http://schemas.microsoft.com/office/infopath/2007/PartnerControls"/>
    </lcf76f155ced4ddcb4097134ff3c332f>
    <Area xmlns="c1157586-506c-47f7-af62-8a4ffee0d374" xsi:nil="true"/>
    <QuestionDate xmlns="c1157586-506c-47f7-af62-8a4ffee0d374" xsi:nil="true"/>
    <QuestionChoice xmlns="c1157586-506c-47f7-af62-8a4ffee0d374" xsi:nil="true"/>
  </documentManagement>
</p:properties>
</file>

<file path=customXml/itemProps1.xml><?xml version="1.0" encoding="utf-8"?>
<ds:datastoreItem xmlns:ds="http://schemas.openxmlformats.org/officeDocument/2006/customXml" ds:itemID="{000A5AB3-D99A-4FD1-965F-E9E1007CA5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4A1566-2886-4E41-AB85-E96A3722A3FB}">
  <ds:schemaRefs>
    <ds:schemaRef ds:uri="1a62c9fc-ae80-4627-9940-e6a1d8694fe3"/>
    <ds:schemaRef ds:uri="c1157586-506c-47f7-af62-8a4ffee0d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480660-C03D-44FC-B02E-7DCF2F22EFCF}">
  <ds:schemaRefs>
    <ds:schemaRef ds:uri="http://purl.org/dc/terms/"/>
    <ds:schemaRef ds:uri="1a62c9fc-ae80-4627-9940-e6a1d8694fe3"/>
    <ds:schemaRef ds:uri="c1157586-506c-47f7-af62-8a4ffee0d37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1136ced-0f10-41c6-ad9e-c2614b9ab5ad}" enabled="1" method="Standard" siteId="{d9e53fd4-13d7-4ca7-a602-14173f4df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Words>1643</Words>
  <Application>Microsoft Office PowerPoint</Application>
  <PresentationFormat>On-screen Show (16:9)</PresentationFormat>
  <Paragraphs>229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Symbol</vt:lpstr>
      <vt:lpstr>Courier New</vt:lpstr>
      <vt:lpstr>Bekaert Text</vt:lpstr>
      <vt:lpstr>Arial</vt:lpstr>
      <vt:lpstr>Bekaert Headline</vt:lpstr>
      <vt:lpstr>Wingdings</vt:lpstr>
      <vt:lpstr>Bekaert 16-9</vt:lpstr>
      <vt:lpstr>think-cell Slide</vt:lpstr>
      <vt:lpstr>Sistem Monitoring
Kapasitansi Kapasitor Motor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Suhendar</dc:creator>
  <cp:lastModifiedBy>Andre Rizm</cp:lastModifiedBy>
  <cp:revision>13</cp:revision>
  <dcterms:created xsi:type="dcterms:W3CDTF">2022-11-07T13:46:31Z</dcterms:created>
  <dcterms:modified xsi:type="dcterms:W3CDTF">2026-07-13T08:18:14Z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rgetEmployeeGroup">
    <vt:lpwstr/>
  </property>
  <property fmtid="{D5CDD505-2E9C-101B-9397-08002B2CF9AE}" pid="3" name="TargetGeographicalArea">
    <vt:lpwstr/>
  </property>
  <property fmtid="{D5CDD505-2E9C-101B-9397-08002B2CF9AE}" pid="4" name="ContentTypeId">
    <vt:lpwstr>0x010100D23653EED20D4049BE73FA4DFC0C757E</vt:lpwstr>
  </property>
  <property fmtid="{D5CDD505-2E9C-101B-9397-08002B2CF9AE}" pid="5" name="TargetFunctionalArea">
    <vt:lpwstr/>
  </property>
  <property fmtid="{D5CDD505-2E9C-101B-9397-08002B2CF9AE}" pid="6" name="TargetPlatform">
    <vt:lpwstr/>
  </property>
  <property fmtid="{D5CDD505-2E9C-101B-9397-08002B2CF9AE}" pid="7" name="TargetLanguage">
    <vt:lpwstr/>
  </property>
  <property fmtid="{D5CDD505-2E9C-101B-9397-08002B2CF9AE}" pid="8" name="_dlc_DocIdItemGuid">
    <vt:lpwstr>c287c0a5-0032-4d18-b0be-e300543b195e</vt:lpwstr>
  </property>
  <property fmtid="{D5CDD505-2E9C-101B-9397-08002B2CF9AE}" pid="9" name="BekaertClassification">
    <vt:lpwstr>Bekaert Restricted Information</vt:lpwstr>
  </property>
  <property fmtid="{D5CDD505-2E9C-101B-9397-08002B2CF9AE}" pid="10" name="TitusGUID">
    <vt:lpwstr>63d589a8-eca7-431b-8d72-60be08e50785</vt:lpwstr>
  </property>
  <property fmtid="{D5CDD505-2E9C-101B-9397-08002B2CF9AE}" pid="11" name="MediaServiceImageTags">
    <vt:lpwstr/>
  </property>
</Properties>
</file>