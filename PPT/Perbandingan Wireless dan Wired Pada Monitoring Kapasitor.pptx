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bookmarkIdSeed="3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2146846689" r:id="rId5"/>
    <p:sldId id="2146846690" r:id="rId6"/>
    <p:sldId id="2146846691" r:id="rId7"/>
    <p:sldId id="2146846692" r:id="rId8"/>
    <p:sldId id="2146846718" r:id="rId9"/>
    <p:sldId id="2146846719" r:id="rId10"/>
    <p:sldId id="2146846702" r:id="rId11"/>
    <p:sldId id="2146846693" r:id="rId12"/>
    <p:sldId id="2146846703" r:id="rId13"/>
    <p:sldId id="2146846694" r:id="rId14"/>
    <p:sldId id="2146846704" r:id="rId15"/>
    <p:sldId id="2146846695" r:id="rId16"/>
    <p:sldId id="2146846713" r:id="rId17"/>
    <p:sldId id="2146846714" r:id="rId18"/>
    <p:sldId id="2146846715" r:id="rId19"/>
    <p:sldId id="2146846716" r:id="rId20"/>
    <p:sldId id="2146846717" r:id="rId21"/>
    <p:sldId id="2146846705" r:id="rId22"/>
    <p:sldId id="2146846696" r:id="rId23"/>
    <p:sldId id="2146846720" r:id="rId24"/>
    <p:sldId id="2146846700" r:id="rId25"/>
    <p:sldId id="2146846698" r:id="rId26"/>
    <p:sldId id="2146846721" r:id="rId27"/>
    <p:sldId id="2146846706" r:id="rId28"/>
    <p:sldId id="2146846709" r:id="rId29"/>
    <p:sldId id="2146846707" r:id="rId30"/>
    <p:sldId id="2146846708" r:id="rId31"/>
    <p:sldId id="2146846710" r:id="rId32"/>
    <p:sldId id="2146846711" r:id="rId33"/>
    <p:sldId id="2146846712" r:id="rId34"/>
  </p:sldIdLst>
  <p:sldSz cx="9144000" cy="5143500" type="screen16x9"/>
  <p:notesSz cx="6797675" cy="9926638"/>
  <p:embeddedFontLst>
    <p:embeddedFont>
      <p:font typeface="Bekaert Headline" panose="020B0604020202020204" charset="0"/>
      <p:regular r:id="rId37"/>
      <p:bold r:id="rId38"/>
    </p:embeddedFont>
    <p:embeddedFont>
      <p:font typeface="Bekaert Text" panose="020B0604020202020204" charset="0"/>
      <p:regular r:id="rId39"/>
      <p:bold r:id="rId40"/>
      <p:italic r:id="rId41"/>
      <p:boldItalic r:id="rId42"/>
    </p:embeddedFont>
  </p:embeddedFontLst>
  <p:custDataLst>
    <p:tags r:id="rId43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s" id="{E25E443A-8AC0-6F49-B7E2-D1705C57DFD4}">
          <p14:sldIdLst>
            <p14:sldId id="2146846689"/>
            <p14:sldId id="2146846690"/>
            <p14:sldId id="2146846691"/>
            <p14:sldId id="2146846692"/>
            <p14:sldId id="2146846718"/>
            <p14:sldId id="2146846719"/>
            <p14:sldId id="2146846702"/>
            <p14:sldId id="2146846693"/>
            <p14:sldId id="2146846703"/>
            <p14:sldId id="2146846694"/>
            <p14:sldId id="2146846704"/>
            <p14:sldId id="2146846695"/>
            <p14:sldId id="2146846713"/>
            <p14:sldId id="2146846714"/>
            <p14:sldId id="2146846715"/>
            <p14:sldId id="2146846716"/>
            <p14:sldId id="2146846717"/>
            <p14:sldId id="2146846705"/>
            <p14:sldId id="2146846696"/>
            <p14:sldId id="2146846720"/>
            <p14:sldId id="2146846700"/>
            <p14:sldId id="2146846698"/>
            <p14:sldId id="2146846721"/>
            <p14:sldId id="2146846706"/>
            <p14:sldId id="2146846709"/>
            <p14:sldId id="2146846707"/>
            <p14:sldId id="2146846708"/>
            <p14:sldId id="2146846710"/>
            <p14:sldId id="2146846711"/>
            <p14:sldId id="21468467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02C"/>
    <a:srgbClr val="F5F3F2"/>
    <a:srgbClr val="D7D2CB"/>
    <a:srgbClr val="FF4E09"/>
    <a:srgbClr val="000000"/>
    <a:srgbClr val="FF602B"/>
    <a:srgbClr val="D7D2CC"/>
    <a:srgbClr val="FBF9FB"/>
    <a:srgbClr val="FFFFFF"/>
    <a:srgbClr val="F6F4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88" autoAdjust="0"/>
  </p:normalViewPr>
  <p:slideViewPr>
    <p:cSldViewPr snapToGrid="0">
      <p:cViewPr>
        <p:scale>
          <a:sx n="100" d="100"/>
          <a:sy n="100" d="100"/>
        </p:scale>
        <p:origin x="974" y="3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tags" Target="tags/tag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6BE62-DCC7-4686-A7D3-13D877BBE637}" type="datetime1">
              <a:rPr lang="de-DE" smtClean="0"/>
              <a:t>30.07.2026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18715-605C-4611-8395-5334328A364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4397359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495" y="765207"/>
            <a:ext cx="4972128" cy="279741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02495" y="9402940"/>
            <a:ext cx="4861933" cy="28056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21338" y="9395470"/>
            <a:ext cx="504055" cy="28803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4052C23-B717-48D0-A2BC-5D53607266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5177973" y="9395471"/>
            <a:ext cx="1008111" cy="2880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95A158C-90D7-49DC-BA2D-2BAD34037B44}" type="datetime1">
              <a:rPr lang="de-DE" smtClean="0"/>
              <a:pPr/>
              <a:t>30.07.2026</a:t>
            </a:fld>
            <a:endParaRPr lang="nl-BE"/>
          </a:p>
        </p:txBody>
      </p:sp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>
          <a:xfrm>
            <a:off x="302495" y="3679220"/>
            <a:ext cx="6192686" cy="559404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/>
          </p:nvPr>
        </p:nvSpPr>
        <p:spPr>
          <a:xfrm>
            <a:off x="302496" y="186371"/>
            <a:ext cx="4972128" cy="475804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400" b="0">
                <a:solidFill>
                  <a:schemeClr val="accent2"/>
                </a:solidFill>
                <a:latin typeface="+mj-lt"/>
              </a:defRPr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250828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marR="0" indent="0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Wingdings" panose="05000000000000000000" pitchFamily="2" charset="2"/>
      <a:buNone/>
      <a:tabLst/>
      <a:defRPr sz="1000" kern="1200" baseline="0">
        <a:solidFill>
          <a:schemeClr val="tx1"/>
        </a:solidFill>
        <a:latin typeface="+mn-lt"/>
        <a:ea typeface="+mn-ea"/>
        <a:cs typeface="+mn-cs"/>
      </a:defRPr>
    </a:lvl1pPr>
    <a:lvl2pPr marL="179388" marR="0" indent="-179388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•"/>
      <a:tabLst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55600" marR="0" indent="-179388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‒"/>
      <a:tabLst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533400" marR="0" indent="-179388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Courier New" panose="02070309020205020404" pitchFamily="49" charset="0"/>
      <a:buChar char="o"/>
      <a:tabLst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723900" marR="0" indent="-142875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»"/>
      <a:tabLst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080000" marR="0" indent="-144000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•"/>
      <a:tabLst/>
      <a:defRPr sz="7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52C23-B717-48D0-A2BC-5D536072662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C3CEBE8F-D45F-4586-A0B2-7BD102CF4564}" type="datetime1">
              <a:rPr lang="de-DE" smtClean="0"/>
              <a:pPr/>
              <a:t>30.07.2026</a:t>
            </a:fld>
            <a:endParaRPr lang="nl-BE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8" name="Slide Image Placeholder 17">
            <a:extLst>
              <a:ext uri="{FF2B5EF4-FFF2-40B4-BE49-F238E27FC236}">
                <a16:creationId xmlns:a16="http://schemas.microsoft.com/office/drawing/2014/main" id="{4576A740-47FD-ED2F-9F20-E3D976F3E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03213" y="765175"/>
            <a:ext cx="4972050" cy="2797175"/>
          </a:xfrm>
        </p:spPr>
      </p:sp>
      <p:sp>
        <p:nvSpPr>
          <p:cNvPr id="19" name="Notes Placeholder 18">
            <a:extLst>
              <a:ext uri="{FF2B5EF4-FFF2-40B4-BE49-F238E27FC236}">
                <a16:creationId xmlns:a16="http://schemas.microsoft.com/office/drawing/2014/main" id="{5605CF9A-0EE5-5DD2-27BF-7373BA800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72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emf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hyperlink" Target="https://bekaert.com/" TargetMode="Externa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5.svg"/><Relationship Id="rId4" Type="http://schemas.openxmlformats.org/officeDocument/2006/relationships/image" Target="../media/image4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Image">
    <p:bg bwMode="auto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E7979C1-87F4-EC23-6D64-D5ABCE865C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2407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E7979C1-87F4-EC23-6D64-D5ABCE865C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BD7E4688-3C3E-F162-D60A-C5C44875C7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>
            <a:off x="0" y="-1"/>
            <a:ext cx="9143999" cy="5143501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6" y="2921863"/>
            <a:ext cx="6471062" cy="3450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here to edit the subtitle</a:t>
            </a:r>
            <a:endParaRPr lang="nl-BE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4425662"/>
            <a:ext cx="4552722" cy="193707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>
              <a:buNone/>
              <a:defRPr sz="1100" b="0" baseline="0"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Author of the presentation</a:t>
            </a:r>
            <a:endParaRPr lang="nl-BE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50825" y="2324790"/>
            <a:ext cx="6471062" cy="493920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 algn="l">
              <a:lnSpc>
                <a:spcPts val="4000"/>
              </a:lnSpc>
              <a:defRPr sz="4000" b="0" i="0" spc="-110" baseline="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4716423"/>
            <a:ext cx="4552722" cy="1761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nl-B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5FB7633-57B0-AA09-9956-906C8456780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7604375" y="4639841"/>
            <a:ext cx="1288800" cy="3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442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 bwMode="lt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E7979C1-87F4-EC23-6D64-D5ABCE865C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2710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E7979C1-87F4-EC23-6D64-D5ABCE865C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6" y="2921863"/>
            <a:ext cx="6478041" cy="3450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here to edit the subtitle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4425662"/>
            <a:ext cx="4552722" cy="193707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 marL="0" indent="0" algn="l" rtl="0">
              <a:buNone/>
              <a:defRPr sz="1100" b="0" baseline="0"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Author of the presentation</a:t>
            </a:r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50825" y="2324790"/>
            <a:ext cx="6478042" cy="493920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 algn="l" rtl="0">
              <a:lnSpc>
                <a:spcPts val="4000"/>
              </a:lnSpc>
              <a:defRPr sz="4000" b="0" i="0" spc="-110" baseline="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noProof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4716423"/>
            <a:ext cx="1821904" cy="176138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 rtl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5FB7633-57B0-AA09-9956-906C8456780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7604375" y="4639841"/>
            <a:ext cx="1288800" cy="3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26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ct 16" hidden="1">
            <a:extLst>
              <a:ext uri="{FF2B5EF4-FFF2-40B4-BE49-F238E27FC236}">
                <a16:creationId xmlns:a16="http://schemas.microsoft.com/office/drawing/2014/main" id="{29D6AE93-DB80-D875-FBA9-5DDF7AFA1D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85033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17" name="Object 16" hidden="1">
                        <a:extLst>
                          <a:ext uri="{FF2B5EF4-FFF2-40B4-BE49-F238E27FC236}">
                            <a16:creationId xmlns:a16="http://schemas.microsoft.com/office/drawing/2014/main" id="{29D6AE93-DB80-D875-FBA9-5DDF7AFA1D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0AFEE-B299-EEE7-328F-9D91D8380B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26123" y="4672881"/>
            <a:ext cx="46813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8BBF93-D887-927B-C8D7-BBC082E8A7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7848" y="1077936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132E008B-4BF4-CC04-1349-129AC70E4B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7848" y="1874525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13D96D3-F072-B760-070A-98E4CC3F51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7848" y="267111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34B39A3-2047-5F71-A5D1-7FE5DF09E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wrap="none"/>
          <a:lstStyle>
            <a:lvl1pPr>
              <a:defRPr/>
            </a:lvl1pPr>
          </a:lstStyle>
          <a:p>
            <a:r>
              <a:rPr lang="en-US"/>
              <a:t>[Agenda]</a:t>
            </a:r>
            <a:endParaRPr lang="nl-BE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A7934EB-70C8-162B-07C1-79B6D9B0250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7848" y="346770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30A05F1A-98C5-C524-8E87-63A09581D9B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22130" y="1077936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CDAEF535-524D-8E84-00CD-BE4C7CE6F7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2130" y="1874525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C8340598-2CC3-9A90-75F5-DE4B44AF609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130" y="267111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077C10B2-AA6E-1788-D297-E19B4B56C18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22130" y="346770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2E814F1E-DF82-AA8E-95E0-75F64E541D2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22130" y="1371646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852575C9-AC24-3E4E-5B21-071308F7E97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64473" y="2168375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496125DB-3124-15F0-B447-AF4D70EE83F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718755" y="2168375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1818CA2D-082E-7AD4-9B46-8E3F5492B77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67848" y="2967868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EA4BF70-A19F-CDCD-4870-FF0B07A6F34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722130" y="2967868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137CC8DD-B7AD-A461-8354-010FBB9DEF4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67848" y="3761554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1F9498B0-823E-D492-719B-C07A909711B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722130" y="3761554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A809151A-A372-A268-260F-1805FF4EF2C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67848" y="1371646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EB3DD197-9290-F631-1521-D11B92107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79E611E-3B77-4404-E304-7DE9136CCD6B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08B79F9-2773-47D7-1E9E-F618B7B2F67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50825" y="518400"/>
            <a:ext cx="669861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47190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| Level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402F9B1-45C3-6A1F-4B59-8491039AC8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838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402F9B1-45C3-6A1F-4B59-8491039AC8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18">
            <a:extLst>
              <a:ext uri="{FF2B5EF4-FFF2-40B4-BE49-F238E27FC236}">
                <a16:creationId xmlns:a16="http://schemas.microsoft.com/office/drawing/2014/main" id="{4798E501-CF1D-2E4D-A1BF-2FEF378D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3321546"/>
            <a:ext cx="8634220" cy="997196"/>
          </a:xfrm>
          <a:prstGeom prst="rect">
            <a:avLst/>
          </a:prstGeom>
        </p:spPr>
        <p:txBody>
          <a:bodyPr vert="horz" wrap="square" anchor="b">
            <a:spAutoFit/>
          </a:bodyPr>
          <a:lstStyle>
            <a:lvl1pPr algn="l">
              <a:lnSpc>
                <a:spcPct val="90000"/>
              </a:lnSpc>
              <a:defRPr sz="7200" b="0" i="0" spc="-110" baseline="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DBAB9FBC-D1CE-A668-FBDD-49B5DCFAE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DC5F580-5EDB-4922-989D-0BE2105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83D4BA-1441-880E-48CA-6A49A6D59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8763" y="268288"/>
            <a:ext cx="8634412" cy="35877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[Optional: presenter name or topic]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C9D54-A949-9AE8-D120-C1116D07E0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987425"/>
            <a:ext cx="4151313" cy="711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Optional</a:t>
            </a:r>
            <a:r>
              <a:rPr lang="nl-BE"/>
              <a:t>: more information </a:t>
            </a:r>
            <a:r>
              <a:rPr lang="nl-BE" err="1"/>
              <a:t>about</a:t>
            </a:r>
            <a:r>
              <a:rPr lang="nl-BE"/>
              <a:t> </a:t>
            </a:r>
            <a:r>
              <a:rPr lang="nl-BE" err="1"/>
              <a:t>this</a:t>
            </a:r>
            <a:r>
              <a:rPr lang="nl-BE"/>
              <a:t> </a:t>
            </a:r>
            <a:r>
              <a:rPr lang="nl-BE" err="1"/>
              <a:t>chapter</a:t>
            </a:r>
            <a:r>
              <a:rPr lang="nl-BE"/>
              <a:t>]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1892EBFD-F167-3177-2311-73469A113B26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38134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| Level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402F9B1-45C3-6A1F-4B59-8491039AC8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3700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402F9B1-45C3-6A1F-4B59-8491039AC8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18">
            <a:extLst>
              <a:ext uri="{FF2B5EF4-FFF2-40B4-BE49-F238E27FC236}">
                <a16:creationId xmlns:a16="http://schemas.microsoft.com/office/drawing/2014/main" id="{4798E501-CF1D-2E4D-A1BF-2FEF378D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3764744"/>
            <a:ext cx="5759999" cy="553998"/>
          </a:xfrm>
          <a:prstGeom prst="rect">
            <a:avLst/>
          </a:prstGeom>
        </p:spPr>
        <p:txBody>
          <a:bodyPr vert="horz" wrap="square" anchor="b">
            <a:spAutoFit/>
          </a:bodyPr>
          <a:lstStyle>
            <a:lvl1pPr algn="l">
              <a:lnSpc>
                <a:spcPct val="90000"/>
              </a:lnSpc>
              <a:defRPr sz="4000" b="0" i="0" spc="-110" baseline="0">
                <a:solidFill>
                  <a:schemeClr val="accent2"/>
                </a:solidFill>
                <a:latin typeface="+mj-lt"/>
              </a:defRPr>
            </a:lvl1pPr>
          </a:lstStyle>
          <a:p>
            <a:endParaRPr lang="nl-BE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DBAB9FBC-D1CE-A668-FBDD-49B5DCFAE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DC5F580-5EDB-4922-989D-0BE2105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83D4BA-1441-880E-48CA-6A49A6D59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8763" y="268288"/>
            <a:ext cx="8634412" cy="35877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subtitle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C9D54-A949-9AE8-D120-C1116D07E0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987425"/>
            <a:ext cx="4151313" cy="711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Optional</a:t>
            </a:r>
            <a:r>
              <a:rPr lang="nl-BE"/>
              <a:t>: more information </a:t>
            </a:r>
            <a:r>
              <a:rPr lang="nl-BE" err="1"/>
              <a:t>about</a:t>
            </a:r>
            <a:r>
              <a:rPr lang="nl-BE"/>
              <a:t> </a:t>
            </a:r>
            <a:r>
              <a:rPr lang="nl-BE" err="1"/>
              <a:t>this</a:t>
            </a:r>
            <a:r>
              <a:rPr lang="nl-BE"/>
              <a:t> </a:t>
            </a:r>
            <a:r>
              <a:rPr lang="nl-BE" err="1"/>
              <a:t>chapter</a:t>
            </a:r>
            <a:r>
              <a:rPr lang="nl-BE"/>
              <a:t>]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1892EBFD-F167-3177-2311-73469A113B26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39222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8C8C860-C66F-606D-34AF-5DB830BB06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30331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8C8C860-C66F-606D-34AF-5DB830BB06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45E6E7F4-0882-BD46-167D-CB49972C398B}"/>
              </a:ext>
            </a:extLst>
          </p:cNvPr>
          <p:cNvSpPr txBox="1"/>
          <p:nvPr userDrawn="1"/>
        </p:nvSpPr>
        <p:spPr>
          <a:xfrm>
            <a:off x="683288" y="411982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endParaRPr lang="en-US" sz="1400" err="1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F397AA07-D572-645E-D231-318AF7385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F6D8481-800B-4E45-8479-565B94672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463994-5D41-7335-4F98-CC10148B8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/>
          <a:lstStyle/>
          <a:p>
            <a:endParaRPr lang="nl-B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D171D-A172-D917-1D5A-6A30A78AEB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8763" y="987425"/>
            <a:ext cx="8634412" cy="3671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4993EBD-AB09-1EEF-CC7A-C9A36174A1F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/>
          <a:p>
            <a:endParaRPr lang="nl-B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543826-3C2A-7C3D-C45E-956D9F9C9D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518400"/>
            <a:ext cx="669861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04728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F8EEEA4-68D3-12EF-D3F8-5FC70D0360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5017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F8EEEA4-68D3-12EF-D3F8-5FC70D0360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6921B04-CC6F-29C1-B885-0375AC7EC45B}"/>
              </a:ext>
            </a:extLst>
          </p:cNvPr>
          <p:cNvSpPr/>
          <p:nvPr userDrawn="1"/>
        </p:nvSpPr>
        <p:spPr bwMode="ltGray">
          <a:xfrm>
            <a:off x="-1" y="0"/>
            <a:ext cx="3060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F96B6-7977-050D-E44F-22D912942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2542090" cy="34499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674CB-30FB-672E-6474-D0C0D4F18A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EC569-86B5-C9DA-C589-F38D40BBC5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940B5-E797-44D6-A773-FE469687A36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E97E09-1276-5725-9F66-E090810E52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825" y="987425"/>
            <a:ext cx="2549525" cy="3671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6F1E99B-3BF4-5670-6F75-57CBD066B3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82950" y="987425"/>
            <a:ext cx="5610225" cy="3671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148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200BC233-7327-40DA-A001-7CB47D27E4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62778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00BC233-7327-40DA-A001-7CB47D27E4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EC12-2999-D7B8-2F22-5261A4620BC9}"/>
              </a:ext>
            </a:extLst>
          </p:cNvPr>
          <p:cNvSpPr>
            <a:spLocks noGrp="1"/>
          </p:cNvSpPr>
          <p:nvPr>
            <p:ph sz="quarter" idx="27"/>
          </p:nvPr>
        </p:nvSpPr>
        <p:spPr bwMode="ltGray">
          <a:xfrm>
            <a:off x="250825" y="987425"/>
            <a:ext cx="2779713" cy="3683000"/>
          </a:xfrm>
          <a:solidFill>
            <a:schemeClr val="tx2"/>
          </a:solidFill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CF94D30-E574-9178-1D36-0BB1D18E8FB2}"/>
              </a:ext>
            </a:extLst>
          </p:cNvPr>
          <p:cNvSpPr>
            <a:spLocks noGrp="1"/>
          </p:cNvSpPr>
          <p:nvPr>
            <p:ph sz="quarter" idx="28"/>
          </p:nvPr>
        </p:nvSpPr>
        <p:spPr bwMode="ltGray">
          <a:xfrm>
            <a:off x="3182408" y="989881"/>
            <a:ext cx="2779713" cy="3683000"/>
          </a:xfrm>
          <a:solidFill>
            <a:schemeClr val="tx2"/>
          </a:solidFill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8C561CB-A528-4BBB-FE90-869BAE4C87AF}"/>
              </a:ext>
            </a:extLst>
          </p:cNvPr>
          <p:cNvSpPr>
            <a:spLocks noGrp="1"/>
          </p:cNvSpPr>
          <p:nvPr>
            <p:ph sz="quarter" idx="29"/>
          </p:nvPr>
        </p:nvSpPr>
        <p:spPr bwMode="ltGray">
          <a:xfrm>
            <a:off x="6113462" y="989881"/>
            <a:ext cx="2779713" cy="3683000"/>
          </a:xfrm>
          <a:solidFill>
            <a:schemeClr val="tx2"/>
          </a:solidFill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7" name="Fußzeilenplatzhalter 2">
            <a:extLst>
              <a:ext uri="{FF2B5EF4-FFF2-40B4-BE49-F238E27FC236}">
                <a16:creationId xmlns:a16="http://schemas.microsoft.com/office/drawing/2014/main" id="{877D7D67-BFFB-62A6-640D-4F6EF88C9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A1361890-BCE9-4670-BA98-762E04E2E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9B346-830F-670F-266E-B4ED5987C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703167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FDAC83-6151-51C4-1E61-A24590E43E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540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C4051-CEAA-A4B8-19BF-93D8D1877A22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/>
          <a:p>
            <a:endParaRPr lang="nl-BE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C7FB99-96BD-0278-EC27-7D663ABACA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6" y="518400"/>
            <a:ext cx="5711296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7153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3 columns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E3E6F75-3A87-4903-B598-D451C0327A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679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E3E6F75-3A87-4903-B598-D451C0327A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60CB8183-26A9-7D08-4553-B1A57210B2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0825" y="1012197"/>
            <a:ext cx="2877706" cy="1659883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CEF0E478-B3A9-E9D2-FC5A-0B57FEBAC81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142083" y="1012197"/>
            <a:ext cx="2864152" cy="1659883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D266051B-1788-6DC9-DBC1-079C9FD769F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15471" y="1012197"/>
            <a:ext cx="2877704" cy="1659883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9EF29F-9481-F58F-445E-64302BC5796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C88D81D-4A50-DE8F-81D5-23FD144744A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A0BB0-4423-8882-9979-41E743B9FA32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64379" y="2685331"/>
            <a:ext cx="2864152" cy="1973982"/>
          </a:xfrm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34A17779-7404-75B6-FD77-2ED3703A3EFE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131290" y="2685331"/>
            <a:ext cx="2878138" cy="1973982"/>
          </a:xfrm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9F5C2DF6-7C6C-F41D-1603-393B637B403C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018953" y="2685331"/>
            <a:ext cx="2865419" cy="1973982"/>
          </a:xfrm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26938-93DD-6EA2-5E4A-2033A2E62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589112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1D65CBFC-88BB-54A1-6F5B-100B4CB7B1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540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B7B0895-974C-C683-C077-D8483237580C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/>
          <a:p>
            <a:endParaRPr lang="nl-BE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FFDD3D9-EE6D-BC4D-09D0-D0AFB54AAEF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0826" y="518400"/>
            <a:ext cx="5597240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1077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4732BD8-418C-4BDF-A10E-549E101203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32828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4732BD8-418C-4BDF-A10E-549E101203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74486D7A-9D19-9FA8-79ED-E6A2947E3C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22726" y="268288"/>
            <a:ext cx="4870450" cy="4606924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5651-1227-F5A8-0981-F428D4E815B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50825" y="2074863"/>
            <a:ext cx="3546475" cy="2366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BFABB6-FD36-750D-41A1-ACBE1E15893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5D9A9D8-75A7-3789-06E1-808A20D4CDA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58954" y="4669639"/>
            <a:ext cx="3538346" cy="205573"/>
          </a:xfrm>
        </p:spPr>
        <p:txBody>
          <a:bodyPr/>
          <a:lstStyle/>
          <a:p>
            <a:endParaRPr lang="de-DE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542A26E-4336-768F-1380-A3743DCF23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B3C8D-A744-E98E-01C3-82F14216F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3538346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DFCC05-0F8B-7FF4-106B-7D06C77D5E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825" y="518400"/>
            <a:ext cx="354647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624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284EA97-31E5-8E78-A6FA-A4543A6C7D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93600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284EA97-31E5-8E78-A6FA-A4543A6C7D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65DB2EE2-D21B-5E2A-B800-A2D2D07CABB9}"/>
              </a:ext>
            </a:extLst>
          </p:cNvPr>
          <p:cNvSpPr/>
          <p:nvPr userDrawn="1"/>
        </p:nvSpPr>
        <p:spPr bwMode="ltGray">
          <a:xfrm>
            <a:off x="3132000" y="987425"/>
            <a:ext cx="2880000" cy="40349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CECE0C-95D2-B1D5-670D-867A72066883}"/>
              </a:ext>
            </a:extLst>
          </p:cNvPr>
          <p:cNvSpPr/>
          <p:nvPr userDrawn="1"/>
        </p:nvSpPr>
        <p:spPr bwMode="ltGray">
          <a:xfrm>
            <a:off x="6138000" y="987425"/>
            <a:ext cx="2880000" cy="40349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92DC11-924E-95A3-7240-E7AA5E633226}"/>
              </a:ext>
            </a:extLst>
          </p:cNvPr>
          <p:cNvSpPr/>
          <p:nvPr userDrawn="1"/>
        </p:nvSpPr>
        <p:spPr bwMode="ltGray">
          <a:xfrm>
            <a:off x="126001" y="987425"/>
            <a:ext cx="2880000" cy="40349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458359B-F342-2E8E-AEEA-5DDCA0973F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650" y="2177063"/>
            <a:ext cx="2628000" cy="819150"/>
          </a:xfrm>
        </p:spPr>
        <p:txBody>
          <a:bodyPr wrap="square" anchor="b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BE"/>
              <a:t>##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9B7D41A8-129E-CB23-2AC8-B9A8865BA0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8000" y="2177698"/>
            <a:ext cx="2628000" cy="819150"/>
          </a:xfrm>
        </p:spPr>
        <p:txBody>
          <a:bodyPr wrap="square" anchor="b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BE"/>
              <a:t>##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00D20DAF-0C30-0FB3-5C15-CB68510D42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4000" y="2185318"/>
            <a:ext cx="2628000" cy="819150"/>
          </a:xfrm>
        </p:spPr>
        <p:txBody>
          <a:bodyPr wrap="square" anchor="b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BE"/>
              <a:t>##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248D52-243C-1683-707C-64B5E7637D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8763" y="3082403"/>
            <a:ext cx="2628000" cy="123476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edit</a:t>
            </a:r>
            <a:r>
              <a:rPr lang="nl-BE"/>
              <a:t> </a:t>
            </a:r>
            <a:r>
              <a:rPr lang="nl-BE" err="1"/>
              <a:t>text</a:t>
            </a:r>
            <a:endParaRPr lang="nl-BE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6DBEEAB-9227-BE0B-5967-27E3F3EB12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8000" y="3082403"/>
            <a:ext cx="2628000" cy="123476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edit</a:t>
            </a:r>
            <a:r>
              <a:rPr lang="nl-BE"/>
              <a:t> </a:t>
            </a:r>
            <a:r>
              <a:rPr lang="nl-BE" err="1"/>
              <a:t>text</a:t>
            </a:r>
            <a:endParaRPr lang="nl-BE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AE8654C9-5EC0-273A-D29E-8F13C50DF7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64000" y="3082403"/>
            <a:ext cx="2628000" cy="123476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edit</a:t>
            </a:r>
            <a:r>
              <a:rPr lang="nl-BE"/>
              <a:t> </a:t>
            </a:r>
            <a:r>
              <a:rPr lang="nl-BE" err="1"/>
              <a:t>text</a:t>
            </a:r>
            <a:endParaRPr lang="nl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B2818B-3240-A16A-2DE8-554F41A8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753046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FA463D96-E439-5538-39A8-93FD184D8F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4824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0DE541C-C5CD-D3BC-5DCF-52CCED418C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0825" y="518400"/>
            <a:ext cx="576117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037272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page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F3B4A5C-3738-482B-B4BF-4B2A973BF4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12161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F3B4A5C-3738-482B-B4BF-4B2A973BF4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DE64330-A74E-9142-A6C6-53DB50D280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264379" y="1012197"/>
            <a:ext cx="2864152" cy="3669821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2CE6BAAE-8C75-7440-B6FC-2AAE2E19B3A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3142083" y="1012197"/>
            <a:ext cx="2864152" cy="3669821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5183C9D-2170-C242-B222-1DBEAE2B2DD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6015471" y="1012197"/>
            <a:ext cx="2864152" cy="3669821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2AC35A-CB62-0EC7-4577-B7049B787E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8316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A9B6F-1B71-F022-EC9D-60A5A778E1EF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ADDF4-1038-7A79-02D8-DBA4913770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3065647-D073-4A53-7318-D8E7620761C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15FF2-D74F-AE00-CD70-2B0A0649B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747281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21119C6-249A-E5C5-214C-56ECC3003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0825" y="518400"/>
            <a:ext cx="5768129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968584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page | full size 3 imag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A71D556-58B4-5D7F-82BE-2B2BF2C2FC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6975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A71D556-58B4-5D7F-82BE-2B2BF2C2FC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6CDA396-1A60-DE7F-24CF-F5975A8C1F9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0"/>
            <a:ext cx="3059113" cy="5143500"/>
          </a:xfrm>
          <a:solidFill>
            <a:schemeClr val="bg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BE" err="1"/>
              <a:t>Insert</a:t>
            </a:r>
            <a:r>
              <a:rPr lang="nl-BE"/>
              <a:t> a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DDB2645-EC03-47EF-BF4A-27154B6C03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53822" y="0"/>
            <a:ext cx="3059113" cy="5146676"/>
          </a:xfrm>
          <a:solidFill>
            <a:schemeClr val="accent6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BE" err="1"/>
              <a:t>Insert</a:t>
            </a:r>
            <a:r>
              <a:rPr lang="nl-BE"/>
              <a:t> a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C07204E-A4FB-B0D8-796F-4F2D437122D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084887" y="0"/>
            <a:ext cx="3059113" cy="5146676"/>
          </a:xfrm>
          <a:solidFill>
            <a:schemeClr val="bg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BE" err="1"/>
              <a:t>Insert</a:t>
            </a:r>
            <a:r>
              <a:rPr lang="nl-BE"/>
              <a:t> a picture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43C5413-9372-CA95-DFED-6E12C85CB9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850" y="2080902"/>
            <a:ext cx="2901414" cy="32945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Title</a:t>
            </a:r>
            <a:r>
              <a:rPr lang="nl-BE"/>
              <a:t>]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9D26C239-DFFE-8B2C-A0E3-7731CC2D52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60718" y="2080902"/>
            <a:ext cx="2901414" cy="32945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Title</a:t>
            </a:r>
            <a:r>
              <a:rPr lang="nl-BE"/>
              <a:t>]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DEC1025E-8A29-A020-4EC8-F394F116D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9097" y="2080902"/>
            <a:ext cx="2901414" cy="32945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Title</a:t>
            </a:r>
            <a:r>
              <a:rPr lang="nl-BE"/>
              <a:t>]</a:t>
            </a: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3B21781C-D9EE-051A-F677-B8F20D4A9B6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53325188-B742-A880-91CE-1260E8DB6E5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5E9B3EE-980D-F243-C416-B70A93638F3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3A42E-1EEA-A4BF-D405-8C05148E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8990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27" userDrawn="1">
          <p15:clr>
            <a:srgbClr val="FBAE40"/>
          </p15:clr>
        </p15:guide>
        <p15:guide id="2" pos="385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page | standout with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005290D-31C2-0E08-4FAF-9A0C67535C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9177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005290D-31C2-0E08-4FAF-9A0C67535C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DBC5A7-C787-34CB-A4E6-E306A29E05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A13C8-D02F-979A-175F-75BB6B03BC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721C3-8B55-2B6E-1E30-6408C776C744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/>
        <p:txBody>
          <a:bodyPr/>
          <a:lstStyle/>
          <a:p>
            <a:endParaRPr lang="nl-BE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B2ECA8FE-0CA0-0A3B-0C86-5BC6748C461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blackGray">
          <a:xfrm>
            <a:off x="4572000" y="2966565"/>
            <a:ext cx="4087504" cy="140518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[Paragraph or bullets]</a:t>
            </a:r>
            <a:endParaRPr lang="nl-B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D9FA4F-AB03-B080-CB7B-02E3B231C70C}"/>
              </a:ext>
            </a:extLst>
          </p:cNvPr>
          <p:cNvSpPr txBox="1"/>
          <p:nvPr userDrawn="1"/>
        </p:nvSpPr>
        <p:spPr>
          <a:xfrm>
            <a:off x="9273540" y="3176"/>
            <a:ext cx="937260" cy="19018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image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push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 (right-click &gt;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back)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appears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behind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endParaRPr lang="nl-BE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Don’t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worry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box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print or display in Slide Show view.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697F08-DD6D-022C-B76E-16E37FD2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1370974"/>
            <a:ext cx="4872603" cy="860435"/>
          </a:xfrm>
        </p:spPr>
        <p:txBody>
          <a:bodyPr vert="horz" wrap="square"/>
          <a:lstStyle>
            <a:lvl1pPr>
              <a:lnSpc>
                <a:spcPct val="90000"/>
              </a:lnSpc>
              <a:defRPr sz="2400">
                <a:solidFill>
                  <a:schemeClr val="tx1"/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EE4D921-C531-AC59-0229-1102D9DA39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8763" y="288000"/>
            <a:ext cx="521878" cy="194756"/>
          </a:xfrm>
          <a:prstGeom prst="roundRect">
            <a:avLst>
              <a:gd name="adj" fmla="val 50000"/>
            </a:avLst>
          </a:prstGeom>
          <a:ln w="12700">
            <a:solidFill>
              <a:schemeClr val="accent6"/>
            </a:solidFill>
          </a:ln>
        </p:spPr>
        <p:txBody>
          <a:bodyPr wrap="none" lIns="72000" tIns="0" rIns="72000" bIns="0" anchor="ctr">
            <a:sp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nl-BE"/>
              <a:t>Topic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5B147E53-8612-6ADC-FDF7-A1BA32D8C8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blackGray">
          <a:xfrm>
            <a:off x="258954" y="2966565"/>
            <a:ext cx="4087504" cy="140518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[Paragraph or bullets]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0400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1D2CDF7-AA1B-CC22-AF43-FD26F94F78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74014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1D2CDF7-AA1B-CC22-AF43-FD26F94F78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1912A3-F966-DD84-6A44-A3C8572A72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66DFC-63A2-2B80-8F3C-ECF57E8D60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A9E13-38DC-F296-02D3-1F47A5B1F6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659EA2-914C-0229-2104-9D0D0D7419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6081" y="1842757"/>
            <a:ext cx="8139776" cy="1002347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Insert</a:t>
            </a:r>
            <a:r>
              <a:rPr lang="nl-BE"/>
              <a:t> quote here]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A41AD4-7D09-0491-CB4F-BD46A005CD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1371" y="3630613"/>
            <a:ext cx="4481258" cy="320414"/>
          </a:xfrm>
        </p:spPr>
        <p:txBody>
          <a:bodyPr wrap="square"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nl-BE"/>
              <a:t>[Author]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F40A4D-8900-EA7B-0E1E-0C3E3DE64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8954" y="278263"/>
            <a:ext cx="504746" cy="194756"/>
          </a:xfrm>
          <a:prstGeom prst="roundRect">
            <a:avLst>
              <a:gd name="adj" fmla="val 50000"/>
            </a:avLst>
          </a:prstGeom>
          <a:ln w="12700">
            <a:solidFill>
              <a:schemeClr val="tx1"/>
            </a:solidFill>
          </a:ln>
        </p:spPr>
        <p:txBody>
          <a:bodyPr vert="horz" wrap="none" lIns="72000" rIns="72000" anchor="ctr" anchorCtr="0">
            <a:spAutoFit/>
          </a:bodyPr>
          <a:lstStyle>
            <a:lvl1pPr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Topic</a:t>
            </a:r>
            <a:endParaRPr lang="nl-B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1B3A4E-BDB7-53DE-F13F-3E5C0151CDFB}"/>
              </a:ext>
            </a:extLst>
          </p:cNvPr>
          <p:cNvSpPr txBox="1"/>
          <p:nvPr userDrawn="1"/>
        </p:nvSpPr>
        <p:spPr>
          <a:xfrm>
            <a:off x="9273540" y="3176"/>
            <a:ext cx="937260" cy="233910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want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a picture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inside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of a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solid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dark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, full-slide image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push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 (right-click &gt;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back)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appears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behind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endParaRPr lang="nl-BE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Don’t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worry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box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print or display in Slide Show view.</a:t>
            </a:r>
          </a:p>
        </p:txBody>
      </p:sp>
    </p:spTree>
    <p:extLst>
      <p:ext uri="{BB962C8B-B14F-4D97-AF65-F5344CB8AC3E}">
        <p14:creationId xmlns:p14="http://schemas.microsoft.com/office/powerpoint/2010/main" val="200989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page with image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456845F-2F69-EE11-AE5A-9C85268897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8873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456845F-2F69-EE11-AE5A-9C85268897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CE3A68D-4C3B-6C9C-7860-923F9EEA007B}"/>
              </a:ext>
            </a:extLst>
          </p:cNvPr>
          <p:cNvSpPr/>
          <p:nvPr userDrawn="1"/>
        </p:nvSpPr>
        <p:spPr bwMode="white">
          <a:xfrm>
            <a:off x="0" y="3176"/>
            <a:ext cx="5261213" cy="513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5FB9B-2BF1-BB82-610C-178E2A062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3552" y="627063"/>
            <a:ext cx="4285397" cy="3822107"/>
          </a:xfrm>
        </p:spPr>
        <p:txBody>
          <a:bodyPr vert="horz" wrap="square" anchor="ctr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[Insert quote here]</a:t>
            </a:r>
            <a:endParaRPr lang="nl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9DF7F77-0453-11DD-F01E-616B9FFC8D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261212" y="3176"/>
            <a:ext cx="3882788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95019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C4CDC82-9C34-C96C-E1B8-8255EEEF62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2873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C4CDC82-9C34-C96C-E1B8-8255EEEF6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BC9C74EE-AA4D-E422-E0BE-05E7DCA2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/>
          <a:lstStyle>
            <a:lvl1pPr>
              <a:defRPr/>
            </a:lvl1pPr>
          </a:lstStyle>
          <a:p>
            <a:endParaRPr lang="nl-BE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E6B20CF2-5EE2-BD6A-9F27-8C1AE4CA43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954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935601D3-6A09-989E-0B84-CD5621B879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8954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185DFCC5-83FB-497A-3892-E29C92DE71F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58952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B78FB-A229-72A4-1418-B20FEFA0CB12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E39BDC-635F-7D2F-5CD2-DDC1C473684E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D2268-6FEE-8DB8-6573-C54638352226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D5028307-7A03-2237-E31A-550FAC4FF58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84257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0EBBFD8C-0087-D187-CC4A-7528969DD6F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84257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D360F96A-6FDE-73C8-C168-F3FE6BD2537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984257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62B66D1-FC42-920F-0C7D-922F1F53CBF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709561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8002292-4E41-2462-17FA-ED89A84A4C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709561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A43EA9FA-111F-4A8B-9DF4-4122652B2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709561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5F8CAE2-D5B6-55E2-F6BE-264A734D85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34865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68B09040-4B85-502D-CCC8-5654195C079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34865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208CE1AA-5167-936B-5164-1D87EEC426A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5434865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5DE8EE4-A704-596D-71CB-BBA14A8EA0F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60172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B94CC450-0CF1-A33C-ECB9-518B544DD1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160172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E30B0CF-ED03-C233-E8A3-BDB2E832E058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160172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E31CA9C-BE9E-3585-0102-638AF2FE3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518400"/>
            <a:ext cx="669861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396906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C4CDC82-9C34-C96C-E1B8-8255EEEF62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4119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C4CDC82-9C34-C96C-E1B8-8255EEEF6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59F3116-F61D-569F-C79E-BD6ECAFBAA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6664" y="1854987"/>
            <a:ext cx="4494478" cy="1349375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pPr lvl="0"/>
            <a:r>
              <a:rPr lang="en-US" noProof="0"/>
              <a:t>Function and biography go here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4BC4CF6-0A82-16BF-1752-C31584BECF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7211" y="998807"/>
            <a:ext cx="1835182" cy="17756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33B8E0B-B116-29CD-1C47-F7AFB5C42F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4AE14E46-73B7-2F98-FC80-3CC492056DB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nl-BE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406DFD9-5A6F-BEC8-A366-8FC550027E2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rtl="0">
              <a:defRPr/>
            </a:lvl1pPr>
          </a:lstStyle>
          <a:p>
            <a:fld id="{E8B57AA4-CC86-403A-9F2D-99B44CA83C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C7C787-B967-7390-3ECB-235D523DC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[Optional title]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A4B0EA4F-2B85-77E7-4D31-0DF0BBB3E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76664" y="1503536"/>
            <a:ext cx="4494478" cy="336651"/>
          </a:xfrm>
        </p:spPr>
        <p:txBody>
          <a:bodyPr wrap="square" anchor="b">
            <a:noAutofit/>
          </a:bodyPr>
          <a:lstStyle>
            <a:lvl1pPr marL="0" indent="0" rtl="0">
              <a:lnSpc>
                <a:spcPct val="100000"/>
              </a:lnSpc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Name of person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99D9B8-DA7B-9421-3D3E-3CFD71A8BB46}"/>
              </a:ext>
            </a:extLst>
          </p:cNvPr>
          <p:cNvSpPr txBox="1"/>
          <p:nvPr userDrawn="1"/>
        </p:nvSpPr>
        <p:spPr>
          <a:xfrm>
            <a:off x="7271025" y="3448426"/>
            <a:ext cx="72616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rtl="0">
              <a:spcAft>
                <a:spcPts val="600"/>
              </a:spcAft>
              <a:buClr>
                <a:schemeClr val="accent1"/>
              </a:buClr>
            </a:pPr>
            <a:r>
              <a:rPr lang="en-US" sz="900">
                <a:hlinkClick r:id="rId5"/>
              </a:rPr>
              <a:t>bekaert.com</a:t>
            </a:r>
            <a:endParaRPr lang="en-US" sz="90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361B122-1FD3-E9BB-9EBF-F875FBB484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42786" y="3644315"/>
            <a:ext cx="854400" cy="156966"/>
          </a:xfrm>
          <a:noFill/>
        </p:spPr>
        <p:txBody>
          <a:bodyPr wrap="none" lIns="0" tIns="0" rIns="0" bIns="0" rtlCol="0">
            <a:spAutoFit/>
          </a:bodyPr>
          <a:lstStyle>
            <a:lvl1pPr marL="0" indent="0" algn="r" rtl="0">
              <a:buNone/>
              <a:defRPr lang="en-US" sz="90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>
                <a:cs typeface="+mn-cs"/>
              </a:defRPr>
            </a:lvl4pPr>
            <a:lvl5pPr>
              <a:defRPr lang="nl-BE" sz="1800">
                <a:cs typeface="+mn-cs"/>
              </a:defRPr>
            </a:lvl5pPr>
          </a:lstStyle>
          <a:p>
            <a:pPr marL="0" lvl="0">
              <a:spcAft>
                <a:spcPts val="600"/>
              </a:spcAft>
              <a:buClr>
                <a:schemeClr val="accent1"/>
              </a:buClr>
            </a:pPr>
            <a:r>
              <a:rPr lang="en-US"/>
              <a:t>Phone number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0B8DE4D-4541-463D-6554-5889CA51F0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8433" y="3858671"/>
            <a:ext cx="828753" cy="156966"/>
          </a:xfrm>
          <a:noFill/>
        </p:spPr>
        <p:txBody>
          <a:bodyPr wrap="none" lIns="0" tIns="0" rIns="0" bIns="0" rtlCol="0">
            <a:spAutoFit/>
          </a:bodyPr>
          <a:lstStyle>
            <a:lvl1pPr marL="0" indent="0" algn="r" rtl="0">
              <a:buNone/>
              <a:defRPr lang="en-US" sz="90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>
                <a:cs typeface="+mn-cs"/>
              </a:defRPr>
            </a:lvl4pPr>
            <a:lvl5pPr>
              <a:defRPr lang="nl-BE" sz="1800">
                <a:cs typeface="+mn-cs"/>
              </a:defRPr>
            </a:lvl5pPr>
          </a:lstStyle>
          <a:p>
            <a:pPr marL="0" lvl="0">
              <a:spcAft>
                <a:spcPts val="600"/>
              </a:spcAft>
              <a:buClr>
                <a:schemeClr val="accent1"/>
              </a:buClr>
            </a:pPr>
            <a:r>
              <a:rPr lang="en-US"/>
              <a:t>Email address</a:t>
            </a:r>
          </a:p>
        </p:txBody>
      </p:sp>
    </p:spTree>
    <p:extLst>
      <p:ext uri="{BB962C8B-B14F-4D97-AF65-F5344CB8AC3E}">
        <p14:creationId xmlns:p14="http://schemas.microsoft.com/office/powerpoint/2010/main" val="19853912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4D93F2A-D115-29C3-660F-908974DDE3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0400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4D93F2A-D115-29C3-660F-908974DD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phic 6">
            <a:extLst>
              <a:ext uri="{FF2B5EF4-FFF2-40B4-BE49-F238E27FC236}">
                <a16:creationId xmlns:a16="http://schemas.microsoft.com/office/drawing/2014/main" id="{AFE34A33-9EBA-C1FE-3993-44C9D8E6BE8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3029803" y="2109591"/>
            <a:ext cx="3084394" cy="71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530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3464747-2D62-05FE-187D-E5C9EF8FA5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83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3464747-2D62-05FE-187D-E5C9EF8FA5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2601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3651EA5-DA5F-4D53-AA49-D00D96557B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2875932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347" imgH="348" progId="TCLayout.ActiveDocument.1">
                  <p:embed/>
                </p:oleObj>
              </mc:Choice>
              <mc:Fallback>
                <p:oleObj name="think-cell Slide" r:id="rId2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3651EA5-DA5F-4D53-AA49-D00D96557B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51519" y="987425"/>
            <a:ext cx="8641655" cy="36718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Level 1</a:t>
            </a:r>
          </a:p>
          <a:p>
            <a:pPr lvl="1"/>
            <a:r>
              <a:rPr lang="en-US" noProof="0"/>
              <a:t>Level 2</a:t>
            </a:r>
          </a:p>
          <a:p>
            <a:pPr lvl="2"/>
            <a:r>
              <a:rPr lang="en-US" noProof="0"/>
              <a:t>Level 3</a:t>
            </a:r>
          </a:p>
          <a:p>
            <a:pPr lvl="3"/>
            <a:r>
              <a:rPr lang="en-US" noProof="0"/>
              <a:t>Level 4</a:t>
            </a:r>
          </a:p>
          <a:p>
            <a:pPr lvl="4"/>
            <a:r>
              <a:rPr lang="en-US" noProof="0"/>
              <a:t>Level 5</a:t>
            </a:r>
          </a:p>
          <a:p>
            <a:pPr lvl="5"/>
            <a:r>
              <a:rPr lang="en-US" noProof="0"/>
              <a:t>Level 6</a:t>
            </a:r>
          </a:p>
          <a:p>
            <a:pPr lvl="6"/>
            <a:r>
              <a:rPr lang="en-US" noProof="0"/>
              <a:t>Level 7</a:t>
            </a:r>
          </a:p>
          <a:p>
            <a:pPr lvl="7"/>
            <a:r>
              <a:rPr lang="en-US" noProof="0"/>
              <a:t>Level 8</a:t>
            </a:r>
          </a:p>
          <a:p>
            <a:pPr lvl="8"/>
            <a:r>
              <a:rPr lang="en-US" noProof="0"/>
              <a:t>Level 9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B3B2796-402D-93C3-7A0A-6A0B4C04E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4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rtl="0">
              <a:defRPr lang="en-US" sz="800" b="0" i="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nl-BE"/>
          </a:p>
        </p:txBody>
      </p:sp>
      <p:sp>
        <p:nvSpPr>
          <p:cNvPr id="18" name="Titelplatzhalter 17">
            <a:extLst>
              <a:ext uri="{FF2B5EF4-FFF2-40B4-BE49-F238E27FC236}">
                <a16:creationId xmlns:a16="http://schemas.microsoft.com/office/drawing/2014/main" id="{D0B96C90-4EDF-D36F-E73B-E0377F13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3"/>
            <a:ext cx="6690486" cy="1956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3D96B-B114-4206-BD47-1FD65CACE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E8B57AA4-CC86-403A-9F2D-99B44CA83C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986F58-1501-6D04-430A-A8E96D01D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33524" y="4672881"/>
            <a:ext cx="2057400" cy="20233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rtl="0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4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880" r:id="rId2"/>
    <p:sldLayoutId id="2147483857" r:id="rId3"/>
    <p:sldLayoutId id="2147483883" r:id="rId4"/>
    <p:sldLayoutId id="2147483844" r:id="rId5"/>
    <p:sldLayoutId id="2147483853" r:id="rId6"/>
    <p:sldLayoutId id="2147483881" r:id="rId7"/>
    <p:sldLayoutId id="2147483828" r:id="rId8"/>
    <p:sldLayoutId id="2147483850" r:id="rId9"/>
    <p:sldLayoutId id="2147483849" r:id="rId10"/>
    <p:sldLayoutId id="2147483872" r:id="rId11"/>
    <p:sldLayoutId id="2147483650" r:id="rId12"/>
    <p:sldLayoutId id="2147483861" r:id="rId13"/>
    <p:sldLayoutId id="2147483859" r:id="rId14"/>
    <p:sldLayoutId id="2147483858" r:id="rId15"/>
    <p:sldLayoutId id="2147483878" r:id="rId16"/>
    <p:sldLayoutId id="2147483882" r:id="rId17"/>
    <p:sldLayoutId id="2147483876" r:id="rId18"/>
    <p:sldLayoutId id="2147483873" r:id="rId19"/>
    <p:sldLayoutId id="2147483855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nl-BE" sz="1400" b="0" i="0" kern="1200" spc="-30" baseline="0" dirty="0">
          <a:solidFill>
            <a:schemeClr val="accent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182563" marR="0" indent="-182563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8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lang="en-US" sz="1200" b="0" i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marR="0" indent="-180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lang="en-US" sz="1200" b="0" i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40000" marR="0" indent="-180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lang="en-US" sz="1100" b="0" i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20000" marR="0" indent="-144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5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sz="10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00000" marR="0" indent="-144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500"/>
        </a:spcAft>
        <a:buClr>
          <a:schemeClr val="accent2"/>
        </a:buClr>
        <a:buSzTx/>
        <a:buFont typeface="Symbol" pitchFamily="2" charset="2"/>
        <a:buChar char="-"/>
        <a:tabLst/>
        <a:defRPr sz="9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0000" marR="0" indent="-1440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4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sz="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255713" indent="-139700" algn="l" defTabSz="914400" rtl="0" eaLnBrk="1" latinLnBrk="0" hangingPunct="1">
        <a:spcBef>
          <a:spcPts val="0"/>
        </a:spcBef>
        <a:spcAft>
          <a:spcPts val="400"/>
        </a:spcAft>
        <a:buClr>
          <a:schemeClr val="accent2"/>
        </a:buClr>
        <a:buFont typeface="Symbol" panose="05050102010706020507" pitchFamily="18" charset="2"/>
        <a:buChar char="-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33513" indent="-139700" algn="l" defTabSz="914400" rtl="0" eaLnBrk="1" latinLnBrk="0" hangingPunct="1">
        <a:spcBef>
          <a:spcPts val="0"/>
        </a:spcBef>
        <a:spcAft>
          <a:spcPts val="400"/>
        </a:spcAft>
        <a:buClr>
          <a:schemeClr val="accent2"/>
        </a:buClr>
        <a:buFont typeface="Symbol" panose="05050102010706020507" pitchFamily="18" charset="2"/>
        <a:buChar char="-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617663" indent="-139700" algn="l" defTabSz="914400" rtl="0" eaLnBrk="1" latinLnBrk="0" hangingPunct="1">
        <a:spcBef>
          <a:spcPts val="0"/>
        </a:spcBef>
        <a:spcAft>
          <a:spcPts val="400"/>
        </a:spcAft>
        <a:buClr>
          <a:schemeClr val="accent2"/>
        </a:buClr>
        <a:buFont typeface="Symbol" panose="05050102010706020507" pitchFamily="18" charset="2"/>
        <a:buChar char="-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9" userDrawn="1">
          <p15:clr>
            <a:srgbClr val="A4A3A4"/>
          </p15:clr>
        </p15:guide>
        <p15:guide id="2" pos="158" userDrawn="1">
          <p15:clr>
            <a:srgbClr val="A4A3A4"/>
          </p15:clr>
        </p15:guide>
        <p15:guide id="4" pos="5602" userDrawn="1">
          <p15:clr>
            <a:srgbClr val="A4A3A4"/>
          </p15:clr>
        </p15:guide>
        <p15:guide id="5" orient="horz" pos="2935" userDrawn="1">
          <p15:clr>
            <a:srgbClr val="A4A3A4"/>
          </p15:clr>
        </p15:guide>
        <p15:guide id="11" orient="horz" pos="395" userDrawn="1">
          <p15:clr>
            <a:srgbClr val="A4A3A4"/>
          </p15:clr>
        </p15:guide>
        <p15:guide id="12" orient="horz" pos="622" userDrawn="1">
          <p15:clr>
            <a:srgbClr val="A4A3A4"/>
          </p15:clr>
        </p15:guide>
        <p15:guide id="13" orient="horz" pos="3072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shopee.co.id/Isi-10Pcs-Resistor-10k-i.158052110.23979162444?extraParams=%7B%22display_model_id%22%3A176078897894%2C%22model_selection_logic%22%3A3%7D" TargetMode="External"/><Relationship Id="rId3" Type="http://schemas.openxmlformats.org/officeDocument/2006/relationships/hyperlink" Target="https://www.tokopedia.com/automa88/pzem-004t-10a-multifunction-ac-220v-volt-ampere-energy-meter-10a-ttl?extParam=ivf%3Dfalse%26keyword%3Dpzem-014%26search_id%3D2026071307173075639EBFFD530F39FWN5%26src%3Dsearch&amp;t_id=1783915925149&amp;t_st=14&amp;t_pp=search_result&amp;t_efo=search_pure_goods_card&amp;t_ef=goods_search&amp;t_sm=&amp;t_spt=search_result" TargetMode="External"/><Relationship Id="rId7" Type="http://schemas.openxmlformats.org/officeDocument/2006/relationships/hyperlink" Target="https://shopee.co.id/FUSE-TABUNG-KACA-5X20MM-SEKRING-GLASS-FUSE-0.5A-1A-2A-5A-10A-20A-30A-READY-BERBAGAI-AMPERE-i.30189058.45560310263?extraParams=%7B%22display_model_id%22%3A380903100769%2C%22model_selection_logic%22%3A3%7D" TargetMode="External"/><Relationship Id="rId2" Type="http://schemas.openxmlformats.org/officeDocument/2006/relationships/hyperlink" Target="https://www.tokopedia.com/rajaduino/esp32-esp-32-devkit-v1-board-30-pin-wifi-bluetooth-ble-microcontroller-cp2102?extParam=ivf%3Dfalse%26keyword%3Desp32+devkit+v1+board%26search_id%3D202607130411543AD7C2EBB96FCB144YOW%26src%3Dsearch&amp;t_id=1783915925149&amp;t_st=1&amp;t_pp=search_result&amp;t_efo=search_pure_goods_card&amp;t_ef=goods_search&amp;t_sm=&amp;t_spt=search_result" TargetMode="External"/><Relationship Id="rId1" Type="http://schemas.openxmlformats.org/officeDocument/2006/relationships/slideLayout" Target="../slideLayouts/slideLayout20.xml"/><Relationship Id="rId6" Type="http://schemas.openxmlformats.org/officeDocument/2006/relationships/hyperlink" Target="https://www.tokopedia.com/kse/power-supply-omron-s8fs-c03505-asli-output-5vdc-7-0a?extParam=ivf%3Dfalse%26keyword%3Dpower+supply+omron+5v%26search_id%3D202607150838310D0F242268331729FMY6%26src%3Dsearch&amp;t_id=1784100296235&amp;t_st=8&amp;t_pp=search_result&amp;t_efo=search_pure_goods_card&amp;t_ef=goods_search&amp;t_sm=&amp;t_spt=search_result" TargetMode="External"/><Relationship Id="rId5" Type="http://schemas.openxmlformats.org/officeDocument/2006/relationships/hyperlink" Target="https://shopee.co.id/BOX-MULTI-BOX-PLASTIK-SERBAGUNA-BOX-PROJEK-X1-X2-X3-X4-X5-X6-BELUM-TERMASUK-BAUT-i.395114462.25014973652?extraParams=%7B%22display_model_id%22%3A205255144442%2C%22model_selection_logic%22%3A2%7D&amp;sp_atk=47a4803c-9075-4d07-a2e8-8768b92eee2a&amp;xptdk=47a4803c-9075-4d07-a2e8-8768b92eee2a" TargetMode="External"/><Relationship Id="rId4" Type="http://schemas.openxmlformats.org/officeDocument/2006/relationships/hyperlink" Target="https://shopee.co.id/PCB-Dot-Matrix-Thru-Hole-Single-Layer-9x15-cm-%E2%80%93-Papan-Prototyping-Elektronik-i.62956347.5413059604?extraParams=%7B%22display_model_id%22%3A41162623981%2C%22model_selection_logic%22%3A3%7D" TargetMode="External"/><Relationship Id="rId9" Type="http://schemas.openxmlformats.org/officeDocument/2006/relationships/hyperlink" Target="https://shopee.co.id/resistor-1-4-watt-1-4W-0.25w-0.25-W-200-2K-20K-OHM-i.59464640.44753998682?extraParams=%7B%22display_model_id%22%3A360377632015%2C%22model_selection_logic%22%3A2%7D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shopee.co.id/Fuse-Holder-PCB-Soket-Fuse-kaca-PCB-Rumah-Fuse-Terminal-Sekring-Kaca-untuk-2cm-i.1009900261.27381709768?extraParams=%7B%22display_model_id%22%3A168828652756%2C%22model_selection_logic%22%3A3%7D" TargetMode="External"/><Relationship Id="rId2" Type="http://schemas.openxmlformats.org/officeDocument/2006/relationships/hyperlink" Target="https://shopee.co.id/resistor-1-4-watt-1-4W-0.25w-0.25-W-200-2K-20K-OHM-i.59464640.44753998682?extraParams=%7B%22display_model_id%22%3A360377632015%2C%22model_selection_logic%22%3A2%7D" TargetMode="Externa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shopee.co.id/PCB-Dot-Matrix-Thru-Hole-Single-Layer-9x15-cm-%E2%80%93-Papan-Prototyping-Elektronik-i.62956347.5413059604?extraParams=%7B%22display_model_id%22%3A41162623981%2C%22model_selection_logic%22%3A3%7D" TargetMode="External"/><Relationship Id="rId3" Type="http://schemas.openxmlformats.org/officeDocument/2006/relationships/hyperlink" Target="https://www.tokopedia.com/automa88/pzem-004t-10a-multifunction-ac-220v-volt-ampere-energy-meter-10a-ttl?extParam=ivf%3Dfalse%26keyword%3Dpzem-014%26search_id%3D2026071307173075639EBFFD530F39FWN5%26src%3Dsearch&amp;t_id=1783915925149&amp;t_st=14&amp;t_pp=search_result&amp;t_efo=search_pure_goods_card&amp;t_ef=goods_search&amp;t_sm=&amp;t_spt=search_result" TargetMode="External"/><Relationship Id="rId7" Type="http://schemas.openxmlformats.org/officeDocument/2006/relationships/hyperlink" Target="https://shopee.co.id/Resistor-1-4W-Metal-Film-1-R-100-120-150-200-220-270-330-390-470-560-680-820-Ohm-1-4-W-Watt-i.342972164.16798892953?extraParams=%7B%22display_model_id%22%3A234691734979%2C%22model_selection_logic%22%3A2%7D" TargetMode="External"/><Relationship Id="rId2" Type="http://schemas.openxmlformats.org/officeDocument/2006/relationships/hyperlink" Target="https://www.tokopedia.com/hwthinker/esp32-esp-32-doit-devkit-v1-30-pin-wifi-bluetooth-ble-dual-core-board-esp32-cp2102-88a25?extParam=ivf%3Dfalse%26keyword%3Desp32+devkit+v1%26search_id%3D202607200912413DD48AB31D016F2808X8%26src%3Dsearch&amp;t_id=1784538736334&amp;t_st=2&amp;t_pp=search_result&amp;t_efo=search_pure_goods_card&amp;t_ef=goods_search&amp;t_sm=&amp;t_spt=search_result" TargetMode="External"/><Relationship Id="rId1" Type="http://schemas.openxmlformats.org/officeDocument/2006/relationships/slideLayout" Target="../slideLayouts/slideLayout20.xml"/><Relationship Id="rId6" Type="http://schemas.openxmlformats.org/officeDocument/2006/relationships/hyperlink" Target="https://shopee.co.id/FUSE-TABUNG-KACA-5X20MM-SEKRING-GLASS-FUSE-0.5A-1A-2A-5A-10A-20A-30A-READY-BERBAGAI-AMPERE-i.30189058.45560310263?extraParams=%7B%22display_model_id%22%3A380903100769%2C%22model_selection_logic%22%3A3%7D" TargetMode="External"/><Relationship Id="rId11" Type="http://schemas.openxmlformats.org/officeDocument/2006/relationships/hyperlink" Target="https://shopee.co.id/(-5-BUAH-)-CAPACITOR-ELCO-25V-470UF-105%C2%B0C-RANDOM-i.212427364.17961281486?extraParams=%7B%22display_model_id%22%3A125545842097%2C%22model_selection_logic%22%3A3%7D" TargetMode="External"/><Relationship Id="rId5" Type="http://schemas.openxmlformats.org/officeDocument/2006/relationships/hyperlink" Target="https://www.tokopedia.com/kse/power-supply-omron-s8fs-c03505-asli-output-5vdc-7-0a?extParam=ivf%3Dfalse%26keyword%3Dpower+supply+omron+5v%26search_id%3D202607150838310D0F242268331729FMY6%26src%3Dsearch&amp;t_id=1784100296235&amp;t_st=8&amp;t_pp=search_result&amp;t_efo=search_pure_goods_card&amp;t_ef=goods_search&amp;t_sm=&amp;t_spt=search_result" TargetMode="External"/><Relationship Id="rId10" Type="http://schemas.openxmlformats.org/officeDocument/2006/relationships/hyperlink" Target="https://shopee.co.id/Kapasitor-Capacitor-ELCO-100uf-50v-100-uf-50-v-100uf-50v-Elko-100uF-50V-i.783660429.23919516606?extraParams=%7B%22display_model_id%22%3A146556210817%2C%22model_selection_logic%22%3A3%7D" TargetMode="External"/><Relationship Id="rId4" Type="http://schemas.openxmlformats.org/officeDocument/2006/relationships/hyperlink" Target="https://shopee.co.id/Modul-Converter-Serial-TTL-to-RS485-Module-RX-TX-485-to-Serial-UART-Level-Mutual-Conversion-Hardware-Automatic-Flow-Control-3.3V-5.5V-i.173966459.14048703162?extraParams=%7B%22display_model_id%22%3A124061136757%2C%22model_selection_logic%22%3A3%7D" TargetMode="External"/><Relationship Id="rId9" Type="http://schemas.openxmlformats.org/officeDocument/2006/relationships/hyperlink" Target="https://shopee.co.id/Capacitor-keramik-100nF-50V-104-50Volt-i.44140220.11350442580?extraParams=%7B%22display_model_id%22%3A47332234937%2C%22model_selection_logic%22%3A3%7D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shopee.co.id/Terminal-Blok-Hijau-KF2EDG-5.08mm-2pin-3pin-4pin-5pin-Model-L-Terminal-Block-KF2EDG-Konektor-2EDG-Siku-2-Kaki-3-Kaki-4-Kaki-5-Kaki-Lurus-i.386907921.25463777419?extraParams=%7B%22display_model_id%22%3A395023126561%2C%22model_selection_logic%22%3A3%7D" TargetMode="External"/><Relationship Id="rId2" Type="http://schemas.openxmlformats.org/officeDocument/2006/relationships/hyperlink" Target="https://shopee.co.id/BOX-MULTI-BOX-PLASTIK-SERBAGUNA-BOX-PROJEK-X1-X2-X3-X4-X5-X6-BELUM-TERMASUK-BAUT-i.395114462.25014973652?extraParams=%7B%22display_model_id%22%3A205255144442%2C%22model_selection_logic%22%3A2%7D&amp;sp_atk=47a4803c-9075-4d07-a2e8-8768b92eee2a&amp;xptdk=47a4803c-9075-4d07-a2e8-8768b92eee2a" TargetMode="External"/><Relationship Id="rId1" Type="http://schemas.openxmlformats.org/officeDocument/2006/relationships/slideLayout" Target="../slideLayouts/slideLayout20.xml"/><Relationship Id="rId5" Type="http://schemas.openxmlformats.org/officeDocument/2006/relationships/hyperlink" Target="https://shopee.co.id/SKUN-FERRULES-SKUN-KABEL-TUSUK-E0508-E7508-E1508-E1008-E2508-E4010-i.62956347.29058589040?extraParams=%7B%22display_model_id%22%3A207741711274%2C%22model_selection_logic%22%3A2%7D" TargetMode="External"/><Relationship Id="rId4" Type="http://schemas.openxmlformats.org/officeDocument/2006/relationships/hyperlink" Target="https://shopee.co.id/Fuse-Holder-PCB-Soket-Fuse-kaca-PCB-Rumah-Fuse-Terminal-Sekring-Kaca-untuk-2cm-i.1009900261.27381709768?extraParams=%7B%22display_model_id%22%3A168828652756%2C%22model_selection_logic%22%3A3%7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88A4BFD1-A4F7-4F98-9027-C33AE6F7878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22995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88A4BFD1-A4F7-4F98-9027-C33AE6F787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F0A943-191C-9060-9CE8-8DC332C3D1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800" b="0">
                <a:solidFill>
                  <a:srgbClr val="FFFFFF"/>
                </a:solidFill>
              </a:rPr>
              <a:t>Komparasi Arsitektur | Wired RS485 vs Wireless ESP-NOW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F106119-122D-39FB-C00C-A3F7B87100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500" b="0">
                <a:solidFill>
                  <a:srgbClr val="FFFFFF"/>
                </a:solidFill>
              </a:rPr>
              <a:t>Andre Rizkyna Muharam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D50FBF-0B99-46D7-8409-E3D9376A4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0" dirty="0">
                <a:solidFill>
                  <a:srgbClr val="FFFFFF"/>
                </a:solidFill>
              </a:rPr>
              <a:t>Perbandingan Topologi</a:t>
            </a:r>
          </a:p>
          <a:p>
            <a:r>
              <a:rPr sz="3400" b="0" dirty="0">
                <a:solidFill>
                  <a:srgbClr val="FFFFFF"/>
                </a:solidFill>
              </a:rPr>
              <a:t>Wired vs Wireless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B3A7E4-5C6A-F3E5-CC67-62CFCBE533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1300" b="0">
                <a:solidFill>
                  <a:srgbClr val="FFFFFF"/>
                </a:solidFill>
              </a:rPr>
              <a:t>Sistem Monitoring Kapasitansi Kapasitor Motor</a:t>
            </a:r>
          </a:p>
        </p:txBody>
      </p:sp>
    </p:spTree>
    <p:extLst>
      <p:ext uri="{BB962C8B-B14F-4D97-AF65-F5344CB8AC3E}">
        <p14:creationId xmlns:p14="http://schemas.microsoft.com/office/powerpoint/2010/main" val="4187801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3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241155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IN THIS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Latar Belakang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" y="137160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4320" y="1554480"/>
            <a:ext cx="3749039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-   Efisiensi biaya sistem monitoring</a:t>
            </a:r>
          </a:p>
          <a:p>
            <a:r>
              <a:rPr sz="1400">
                <a:solidFill>
                  <a:srgbClr val="000000"/>
                </a:solidFill>
              </a:rPr>
              <a:t>-   Kondisi mesin memanjang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Opsi Wireless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288036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3063239"/>
            <a:ext cx="3749039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-   10 ESP32 node untuk 10 motor</a:t>
            </a:r>
          </a:p>
          <a:p>
            <a:r>
              <a:rPr sz="1400">
                <a:solidFill>
                  <a:srgbClr val="000000"/>
                </a:solidFill>
              </a:rPr>
              <a:t>-   ESP-NOW / WiFi lokal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051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Opsi Wired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137160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00600" y="1554480"/>
            <a:ext cx="3749039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-   1 ESP32 pusat</a:t>
            </a:r>
          </a:p>
          <a:p>
            <a:r>
              <a:rPr sz="1400">
                <a:solidFill>
                  <a:srgbClr val="000000"/>
                </a:solidFill>
              </a:rPr>
              <a:t>-   10 PZEM melalui bus RS485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Perbandingan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00600" y="288036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00600" y="3063239"/>
            <a:ext cx="3749039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-   Komponen, biaya, stabilitas</a:t>
            </a:r>
          </a:p>
          <a:p>
            <a:r>
              <a:rPr sz="1400">
                <a:solidFill>
                  <a:srgbClr val="000000"/>
                </a:solidFill>
              </a:rPr>
              <a:t>-   Risiko dan maintenance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9776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Rekomendasi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00600" y="4297679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00600" y="4389120"/>
            <a:ext cx="39319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1">
                <a:solidFill>
                  <a:srgbClr val="915534"/>
                </a:solidFill>
              </a:rPr>
              <a:t>Untuk mesin memanjang dan efisiensi biaya, opsi wired RS485 lebih disarankan.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50312"/>
            <a:ext cx="8046720" cy="16312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KONFIGURASI YANG</a:t>
            </a:r>
          </a:p>
          <a:p>
            <a:r>
              <a:rPr sz="3000" b="1">
                <a:solidFill>
                  <a:srgbClr val="FFFFFF"/>
                </a:solidFill>
              </a:rPr>
              <a:t>DIBANDINGKAN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0555"/>
            <a:ext cx="275428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OPSI 1: WIRELESS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" y="1188719"/>
            <a:ext cx="3886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0040" y="1371600"/>
            <a:ext cx="393192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dirty="0">
                <a:solidFill>
                  <a:srgbClr val="000000"/>
                </a:solidFill>
              </a:rPr>
              <a:t>-   1 motor = 1 PZEM + 1 ESP32.</a:t>
            </a:r>
          </a:p>
          <a:p>
            <a:r>
              <a:rPr sz="1300" dirty="0">
                <a:solidFill>
                  <a:srgbClr val="000000"/>
                </a:solidFill>
              </a:rPr>
              <a:t>-   </a:t>
            </a:r>
            <a:r>
              <a:rPr sz="1300" dirty="0" err="1">
                <a:solidFill>
                  <a:srgbClr val="000000"/>
                </a:solidFill>
              </a:rPr>
              <a:t>Setiap</a:t>
            </a:r>
            <a:r>
              <a:rPr sz="1300" dirty="0">
                <a:solidFill>
                  <a:srgbClr val="000000"/>
                </a:solidFill>
              </a:rPr>
              <a:t> node </a:t>
            </a:r>
            <a:r>
              <a:rPr sz="1300" dirty="0" err="1">
                <a:solidFill>
                  <a:srgbClr val="000000"/>
                </a:solidFill>
              </a:rPr>
              <a:t>mengirim</a:t>
            </a:r>
            <a:r>
              <a:rPr sz="1300" dirty="0">
                <a:solidFill>
                  <a:srgbClr val="000000"/>
                </a:solidFill>
              </a:rPr>
              <a:t> data </a:t>
            </a:r>
            <a:r>
              <a:rPr sz="1300" dirty="0" err="1">
                <a:solidFill>
                  <a:srgbClr val="000000"/>
                </a:solidFill>
              </a:rPr>
              <a:t>melalui</a:t>
            </a:r>
            <a:r>
              <a:rPr sz="1300" dirty="0">
                <a:solidFill>
                  <a:srgbClr val="000000"/>
                </a:solidFill>
              </a:rPr>
              <a:t> ESP-NOW/</a:t>
            </a:r>
            <a:r>
              <a:rPr sz="1300" dirty="0" err="1">
                <a:solidFill>
                  <a:srgbClr val="000000"/>
                </a:solidFill>
              </a:rPr>
              <a:t>WiFi</a:t>
            </a:r>
            <a:r>
              <a:rPr sz="1300" dirty="0">
                <a:solidFill>
                  <a:srgbClr val="000000"/>
                </a:solidFill>
              </a:rPr>
              <a:t>.</a:t>
            </a:r>
          </a:p>
          <a:p>
            <a:r>
              <a:rPr sz="1300" dirty="0">
                <a:solidFill>
                  <a:srgbClr val="000000"/>
                </a:solidFill>
              </a:rPr>
              <a:t>-   Kabel </a:t>
            </a:r>
            <a:r>
              <a:rPr sz="1300" dirty="0" err="1">
                <a:solidFill>
                  <a:srgbClr val="000000"/>
                </a:solidFill>
              </a:rPr>
              <a:t>komunikasi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antar</a:t>
            </a:r>
            <a:r>
              <a:rPr sz="1300" dirty="0">
                <a:solidFill>
                  <a:srgbClr val="000000"/>
                </a:solidFill>
              </a:rPr>
              <a:t> motor </a:t>
            </a:r>
            <a:r>
              <a:rPr sz="1300" dirty="0" err="1">
                <a:solidFill>
                  <a:srgbClr val="000000"/>
                </a:solidFill>
              </a:rPr>
              <a:t>tidak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diperlukan</a:t>
            </a:r>
            <a:r>
              <a:rPr sz="1300" dirty="0">
                <a:solidFill>
                  <a:srgbClr val="000000"/>
                </a:solidFill>
              </a:rPr>
              <a:t>.</a:t>
            </a:r>
          </a:p>
          <a:p>
            <a:r>
              <a:rPr sz="1300" dirty="0">
                <a:solidFill>
                  <a:srgbClr val="000000"/>
                </a:solidFill>
              </a:rPr>
              <a:t>-   </a:t>
            </a:r>
            <a:r>
              <a:rPr sz="1300" dirty="0" err="1">
                <a:solidFill>
                  <a:srgbClr val="000000"/>
                </a:solidFill>
              </a:rPr>
              <a:t>Cocok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jika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penarikan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kabel</a:t>
            </a:r>
            <a:r>
              <a:rPr sz="1300" dirty="0">
                <a:solidFill>
                  <a:srgbClr val="000000"/>
                </a:solidFill>
              </a:rPr>
              <a:t> sangat </a:t>
            </a:r>
            <a:r>
              <a:rPr sz="1300" dirty="0" err="1">
                <a:solidFill>
                  <a:srgbClr val="000000"/>
                </a:solidFill>
              </a:rPr>
              <a:t>sulit</a:t>
            </a:r>
            <a:r>
              <a:rPr sz="13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827430"/>
            <a:ext cx="27715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OPSI 2: WIRED RS485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1188719"/>
            <a:ext cx="3886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0" y="1371600"/>
            <a:ext cx="402336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-   10 PZEM dihubungkan ke 1 ESP32 pusat melalui bus RS485.</a:t>
            </a:r>
          </a:p>
          <a:p>
            <a:r>
              <a:rPr sz="1300">
                <a:solidFill>
                  <a:srgbClr val="000000"/>
                </a:solidFill>
              </a:rPr>
              <a:t>-   Setiap PZEM diberi alamat berbeda.</a:t>
            </a:r>
          </a:p>
          <a:p>
            <a:r>
              <a:rPr sz="1300">
                <a:solidFill>
                  <a:srgbClr val="000000"/>
                </a:solidFill>
              </a:rPr>
              <a:t>-   Topologi daisy-chain mengikuti mesin memanjang.</a:t>
            </a:r>
          </a:p>
          <a:p>
            <a:r>
              <a:rPr sz="1300">
                <a:solidFill>
                  <a:srgbClr val="000000"/>
                </a:solidFill>
              </a:rPr>
              <a:t>-   ESP32 pusat mengirim data ke dashboard.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7792" y="3536560"/>
            <a:ext cx="2834640" cy="777240"/>
          </a:xfrm>
          <a:prstGeom prst="rect">
            <a:avLst/>
          </a:prstGeom>
          <a:solidFill>
            <a:srgbClr val="ECEAE6"/>
          </a:solidFill>
          <a:ln w="1905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3646289"/>
            <a:ext cx="261518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696969"/>
                </a:solidFill>
              </a:rPr>
              <a:t>Fokus Keputusan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4456" y="3797046"/>
            <a:ext cx="2834639" cy="43088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 err="1">
                <a:solidFill>
                  <a:srgbClr val="009ADC"/>
                </a:solidFill>
              </a:rPr>
              <a:t>Biaya</a:t>
            </a:r>
            <a:r>
              <a:rPr sz="2200" b="1" dirty="0">
                <a:solidFill>
                  <a:srgbClr val="009ADC"/>
                </a:solidFill>
              </a:rPr>
              <a:t> &amp; </a:t>
            </a:r>
            <a:r>
              <a:rPr sz="2200" b="1" dirty="0" err="1">
                <a:solidFill>
                  <a:srgbClr val="009ADC"/>
                </a:solidFill>
              </a:rPr>
              <a:t>Stabilitas</a:t>
            </a:r>
            <a:endParaRPr sz="2200" b="1" dirty="0">
              <a:solidFill>
                <a:srgbClr val="009AD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11D3-4CE8-230E-64FD-7D991823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3F145D-A8CD-B99E-B091-04B1E7389ED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4506C-866F-CE1B-3630-62FFC42C59A2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F67D2-7E6B-D147-E8B2-C841D21A35FE}"/>
              </a:ext>
            </a:extLst>
          </p:cNvPr>
          <p:cNvSpPr txBox="1"/>
          <p:nvPr/>
        </p:nvSpPr>
        <p:spPr>
          <a:xfrm>
            <a:off x="365760" y="990191"/>
            <a:ext cx="8921931" cy="258532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METODOLOGI</a:t>
            </a:r>
            <a:r>
              <a:rPr lang="en-US" sz="5400" b="1" dirty="0">
                <a:solidFill>
                  <a:schemeClr val="bg1"/>
                </a:solidFill>
              </a:rPr>
              <a:t> </a:t>
            </a:r>
            <a:r>
              <a:rPr lang="id-ID" sz="5400" b="1" dirty="0">
                <a:solidFill>
                  <a:schemeClr val="bg1"/>
                </a:solidFill>
              </a:rPr>
              <a:t>PENGUKURAN</a:t>
            </a:r>
            <a:r>
              <a:rPr lang="en-US" sz="5400" b="1" dirty="0">
                <a:solidFill>
                  <a:schemeClr val="bg1"/>
                </a:solidFill>
              </a:rPr>
              <a:t> </a:t>
            </a:r>
            <a:r>
              <a:rPr lang="id-ID" sz="5400" b="1" dirty="0">
                <a:solidFill>
                  <a:schemeClr val="bg1"/>
                </a:solidFill>
              </a:rPr>
              <a:t>KAPASITANSI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3A44E8C-DD80-EAC8-0899-29A096FC2289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148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36676"/>
            <a:ext cx="34804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PRINSIP PERHITUNGAN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1188719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371600"/>
            <a:ext cx="38404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FF5B2D"/>
                </a:solidFill>
              </a:rPr>
              <a:t>C = I / (2 pi x f x 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40233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-   I = </a:t>
            </a:r>
            <a:r>
              <a:rPr sz="1300" dirty="0" err="1">
                <a:solidFill>
                  <a:srgbClr val="000000"/>
                </a:solidFill>
              </a:rPr>
              <a:t>arus</a:t>
            </a:r>
            <a:r>
              <a:rPr sz="1300" dirty="0">
                <a:solidFill>
                  <a:srgbClr val="000000"/>
                </a:solidFill>
              </a:rPr>
              <a:t> RMS pada </a:t>
            </a:r>
            <a:r>
              <a:rPr sz="1300" dirty="0" err="1">
                <a:solidFill>
                  <a:srgbClr val="000000"/>
                </a:solidFill>
              </a:rPr>
              <a:t>jalur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kapasitor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dari</a:t>
            </a:r>
            <a:r>
              <a:rPr sz="1300" dirty="0">
                <a:solidFill>
                  <a:srgbClr val="000000"/>
                </a:solidFill>
              </a:rPr>
              <a:t> CT clamp.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-   V = </a:t>
            </a:r>
            <a:r>
              <a:rPr sz="1300" dirty="0" err="1">
                <a:solidFill>
                  <a:srgbClr val="000000"/>
                </a:solidFill>
              </a:rPr>
              <a:t>tegangan</a:t>
            </a:r>
            <a:r>
              <a:rPr sz="1300" dirty="0">
                <a:solidFill>
                  <a:srgbClr val="000000"/>
                </a:solidFill>
              </a:rPr>
              <a:t> RMS pada terminal </a:t>
            </a:r>
            <a:r>
              <a:rPr sz="1300" dirty="0" err="1">
                <a:solidFill>
                  <a:srgbClr val="000000"/>
                </a:solidFill>
              </a:rPr>
              <a:t>kapasitor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dari</a:t>
            </a:r>
            <a:r>
              <a:rPr sz="1300" dirty="0">
                <a:solidFill>
                  <a:srgbClr val="000000"/>
                </a:solidFill>
              </a:rPr>
              <a:t> voltage transducer.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-   f = </a:t>
            </a:r>
            <a:r>
              <a:rPr sz="1300" dirty="0" err="1">
                <a:solidFill>
                  <a:srgbClr val="000000"/>
                </a:solidFill>
              </a:rPr>
              <a:t>frekuensi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listrik</a:t>
            </a:r>
            <a:r>
              <a:rPr sz="1300" dirty="0">
                <a:solidFill>
                  <a:srgbClr val="000000"/>
                </a:solidFill>
              </a:rPr>
              <a:t>, </a:t>
            </a:r>
            <a:r>
              <a:rPr sz="1300" dirty="0" err="1">
                <a:solidFill>
                  <a:srgbClr val="000000"/>
                </a:solidFill>
              </a:rPr>
              <a:t>digunakan</a:t>
            </a:r>
            <a:r>
              <a:rPr sz="1300" dirty="0">
                <a:solidFill>
                  <a:srgbClr val="000000"/>
                </a:solidFill>
              </a:rPr>
              <a:t> 50 Hz.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-   Hasil C </a:t>
            </a:r>
            <a:r>
              <a:rPr sz="1300" dirty="0" err="1">
                <a:solidFill>
                  <a:srgbClr val="000000"/>
                </a:solidFill>
              </a:rPr>
              <a:t>dikonversi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ke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mikrofarad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untuk</a:t>
            </a:r>
            <a:r>
              <a:rPr sz="1300" dirty="0">
                <a:solidFill>
                  <a:srgbClr val="000000"/>
                </a:solidFill>
              </a:rPr>
              <a:t>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440" y="828646"/>
            <a:ext cx="452656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5B2D"/>
                </a:solidFill>
              </a:rPr>
              <a:t>CONTOH UNTUK 2 UF / 220 VAC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09160" y="1188719"/>
            <a:ext cx="39319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92040" y="1417320"/>
            <a:ext cx="347472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>
                <a:solidFill>
                  <a:srgbClr val="00A550"/>
                </a:solidFill>
              </a:rPr>
              <a:t>I = 2 pi x 50 x 2e-6 x 220
I ≈ 0,138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3840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Karena arus kapasitor kecil, sensor arus harus memiliki range kecil dan resolusi cukup.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CT harus dipasang pada satu kabel kapasitor, bukan kabel utama motor.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Voltage transducer membaca terminal kapasitor, bukan hanya sumber utama.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77639"/>
            <a:ext cx="118872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Kapasitor
2 uF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977639"/>
            <a:ext cx="123444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CT Clamp
I 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3977639"/>
            <a:ext cx="132588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Voltage
Transducer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3977639"/>
            <a:ext cx="123444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ESP32
Hitung 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977639"/>
            <a:ext cx="11430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Dashboard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74519" y="4224528"/>
            <a:ext cx="411481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20440" y="4224528"/>
            <a:ext cx="41148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57800" y="4224528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49440" y="4224528"/>
            <a:ext cx="41148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888F9-2636-86E6-5717-3043C030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7C95DF-F54A-AC8C-0520-E39D0D218DE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661B6-132F-213E-E70C-26E23F1BDB60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EC5A9-663D-F1D7-18F7-0EE562A950FF}"/>
              </a:ext>
            </a:extLst>
          </p:cNvPr>
          <p:cNvSpPr txBox="1"/>
          <p:nvPr/>
        </p:nvSpPr>
        <p:spPr>
          <a:xfrm>
            <a:off x="365760" y="1826214"/>
            <a:ext cx="8046720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 dirty="0">
                <a:solidFill>
                  <a:srgbClr val="FFFFFF"/>
                </a:solidFill>
              </a:rPr>
              <a:t>PERBANDINGAN KOMPONEN</a:t>
            </a:r>
          </a:p>
          <a:p>
            <a:r>
              <a:rPr sz="2800" b="1" dirty="0">
                <a:solidFill>
                  <a:srgbClr val="FFFFFF"/>
                </a:solidFill>
              </a:rPr>
              <a:t>PER MESIN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4B1AC57-9763-6663-B553-2704D3CA14BB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7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828637" y="2569464"/>
            <a:ext cx="201168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8365" y="2615184"/>
            <a:ext cx="17922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696969"/>
                </a:solidFill>
              </a:rPr>
              <a:t>Wireless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8365" y="2761488"/>
            <a:ext cx="179222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>
                <a:solidFill>
                  <a:srgbClr val="FF5B2D"/>
                </a:solidFill>
              </a:rPr>
              <a:t>10 ESP32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8365" y="3104387"/>
            <a:ext cx="179222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>
                <a:solidFill>
                  <a:srgbClr val="000000"/>
                </a:solidFill>
              </a:rPr>
              <a:t>Satu node mandiri untuk setiap motor.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8637" y="861684"/>
            <a:ext cx="201168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8365" y="907404"/>
            <a:ext cx="17922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696969"/>
                </a:solidFill>
              </a:rPr>
              <a:t>Wired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8365" y="1108232"/>
            <a:ext cx="179222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>
                <a:solidFill>
                  <a:srgbClr val="00A550"/>
                </a:solidFill>
              </a:rPr>
              <a:t>1 ESP32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8365" y="1483476"/>
            <a:ext cx="179222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>
                <a:solidFill>
                  <a:srgbClr val="000000"/>
                </a:solidFill>
              </a:rPr>
              <a:t>Satu controller pusat membaca 10 PZEM.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32038" y="853658"/>
            <a:ext cx="182880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41766" y="894806"/>
            <a:ext cx="160934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696969"/>
                </a:solidFill>
              </a:rPr>
              <a:t>RS485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1766" y="1076568"/>
            <a:ext cx="160934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 dirty="0">
                <a:solidFill>
                  <a:srgbClr val="009ADC"/>
                </a:solidFill>
              </a:rPr>
              <a:t>11 conv.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1766" y="1448018"/>
            <a:ext cx="160934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>
                <a:solidFill>
                  <a:srgbClr val="000000"/>
                </a:solidFill>
              </a:rPr>
              <a:t>10 sisi PZEM + 1 sisi controller.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23478" y="2574036"/>
            <a:ext cx="173736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3206" y="2615184"/>
            <a:ext cx="151790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696969"/>
                </a:solidFill>
              </a:rPr>
              <a:t>Skala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3206" y="2834640"/>
            <a:ext cx="151790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915534"/>
                </a:solidFill>
              </a:rPr>
              <a:t>30 mesin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3206" y="3168396"/>
            <a:ext cx="151790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>
                <a:solidFill>
                  <a:srgbClr val="000000"/>
                </a:solidFill>
              </a:rPr>
              <a:t>Wired mengurangi ESP32 dari 300 menjadi 30 unit.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7799" y="365216"/>
            <a:ext cx="39953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RINGKASAN PERBANDINGAN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7799" y="721832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073573"/>
              </p:ext>
            </p:extLst>
          </p:nvPr>
        </p:nvGraphicFramePr>
        <p:xfrm>
          <a:off x="247799" y="858992"/>
          <a:ext cx="4389117" cy="3497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r>
                        <a:rPr sz="800"/>
                        <a:t>Aspek</a:t>
                      </a:r>
                    </a:p>
                  </a:txBody>
                  <a:tcPr marL="45720" marR="45720"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Wireless</a:t>
                      </a:r>
                    </a:p>
                  </a:txBody>
                  <a:tcPr marL="45720" marR="45720"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Wired RS485</a:t>
                      </a:r>
                    </a:p>
                  </a:txBody>
                  <a:tcPr marL="45720" marR="45720"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750"/>
                        <a:t>ESP32 per mesin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/>
                        <a:t>10 pcs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/>
                        <a:t>1 pcs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750" dirty="0" err="1"/>
                        <a:t>Komunikasi</a:t>
                      </a:r>
                      <a:endParaRPr sz="75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/>
                        <a:t>ESP-NOW/WiFi antar node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/>
                        <a:t>RS485 daisy-chain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en-US" sz="750" dirty="0"/>
                        <a:t>Power Supply</a:t>
                      </a:r>
                      <a:endParaRPr sz="75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dirty="0"/>
                        <a:t>Satu PSU per node</a:t>
                      </a:r>
                      <a:endParaRPr sz="75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dirty="0"/>
                        <a:t>Satu PSU 5V 5A </a:t>
                      </a:r>
                      <a:r>
                        <a:rPr lang="en-US" sz="750" dirty="0" err="1"/>
                        <a:t>untuk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semua</a:t>
                      </a:r>
                      <a:r>
                        <a:rPr lang="en-US" sz="750" dirty="0"/>
                        <a:t> node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8077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en-US" sz="750" dirty="0" err="1"/>
                        <a:t>Instalasi</a:t>
                      </a:r>
                      <a:endParaRPr sz="75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dirty="0" err="1"/>
                        <a:t>Lebih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mudah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karena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sedikit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kabel</a:t>
                      </a:r>
                      <a:endParaRPr sz="75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dirty="0" err="1"/>
                        <a:t>Lebih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banyak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pemasangan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kabel</a:t>
                      </a:r>
                      <a:endParaRPr lang="en-US" sz="75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0321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en-US" sz="750" dirty="0" err="1"/>
                        <a:t>Perawatan</a:t>
                      </a:r>
                      <a:endParaRPr sz="75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dirty="0" err="1"/>
                        <a:t>Setiap</a:t>
                      </a:r>
                      <a:r>
                        <a:rPr lang="en-US" sz="750" dirty="0"/>
                        <a:t> node </a:t>
                      </a:r>
                      <a:r>
                        <a:rPr lang="en-US" sz="750" dirty="0" err="1"/>
                        <a:t>berdiri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sendiri</a:t>
                      </a:r>
                      <a:endParaRPr sz="75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dirty="0" err="1"/>
                        <a:t>Pemeriksaan</a:t>
                      </a:r>
                      <a:r>
                        <a:rPr lang="en-US" sz="750" dirty="0"/>
                        <a:t> bus dan </a:t>
                      </a:r>
                      <a:r>
                        <a:rPr lang="en-US" sz="750" dirty="0" err="1"/>
                        <a:t>koneksi</a:t>
                      </a:r>
                      <a:r>
                        <a:rPr lang="en-US" sz="750" dirty="0"/>
                        <a:t> terminal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903547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en-US" sz="750" dirty="0" err="1"/>
                        <a:t>Resiko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gangguan</a:t>
                      </a:r>
                      <a:endParaRPr sz="75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dirty="0" err="1"/>
                        <a:t>Sinyal</a:t>
                      </a:r>
                      <a:r>
                        <a:rPr lang="en-US" sz="750" dirty="0"/>
                        <a:t> wireless </a:t>
                      </a:r>
                      <a:r>
                        <a:rPr lang="en-US" sz="750" dirty="0" err="1"/>
                        <a:t>dapat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terhalang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struktur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mesin</a:t>
                      </a:r>
                      <a:r>
                        <a:rPr lang="en-US" sz="750" dirty="0"/>
                        <a:t> dan </a:t>
                      </a:r>
                      <a:r>
                        <a:rPr lang="en-US" sz="750" dirty="0" err="1"/>
                        <a:t>mengganggu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jaringan</a:t>
                      </a:r>
                      <a:r>
                        <a:rPr lang="en-US" sz="750" dirty="0"/>
                        <a:t> mesh</a:t>
                      </a:r>
                      <a:endParaRPr sz="75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dirty="0"/>
                        <a:t>Kabel </a:t>
                      </a:r>
                      <a:r>
                        <a:rPr lang="en-US" sz="750" dirty="0" err="1"/>
                        <a:t>dapat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putus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atau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koneksi</a:t>
                      </a:r>
                      <a:r>
                        <a:rPr lang="en-US" sz="750" dirty="0"/>
                        <a:t> terminal </a:t>
                      </a:r>
                      <a:r>
                        <a:rPr lang="en-US" sz="750" dirty="0" err="1"/>
                        <a:t>longgar</a:t>
                      </a:r>
                      <a:endParaRPr lang="en-US" sz="75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557834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en-US" sz="750" dirty="0"/>
                        <a:t>Paling </a:t>
                      </a:r>
                      <a:r>
                        <a:rPr lang="en-US" sz="750" dirty="0" err="1"/>
                        <a:t>cocok</a:t>
                      </a:r>
                      <a:endParaRPr sz="75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dirty="0"/>
                        <a:t>Lokasi </a:t>
                      </a:r>
                      <a:r>
                        <a:rPr lang="en-US" sz="750" dirty="0" err="1"/>
                        <a:t>sulit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dijangkau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kabel</a:t>
                      </a:r>
                      <a:endParaRPr sz="75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dirty="0" err="1"/>
                        <a:t>Mesin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memanjang</a:t>
                      </a:r>
                      <a:r>
                        <a:rPr lang="en-US" sz="750" dirty="0"/>
                        <a:t> dan </a:t>
                      </a:r>
                      <a:r>
                        <a:rPr lang="en-US" sz="750" dirty="0" err="1"/>
                        <a:t>membutuhkan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komunikasi</a:t>
                      </a:r>
                      <a:r>
                        <a:rPr lang="en-US" sz="750" dirty="0"/>
                        <a:t> yang </a:t>
                      </a:r>
                      <a:r>
                        <a:rPr lang="en-US" sz="750" dirty="0" err="1"/>
                        <a:t>stabil</a:t>
                      </a:r>
                      <a:endParaRPr lang="en-US" sz="75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78335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en-US" sz="750" dirty="0" err="1"/>
                        <a:t>Stabilitas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Komunikasi</a:t>
                      </a:r>
                      <a:endParaRPr sz="75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dirty="0" err="1"/>
                        <a:t>Dipengaruhi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jarak</a:t>
                      </a:r>
                      <a:r>
                        <a:rPr lang="en-US" sz="750" dirty="0"/>
                        <a:t>, </a:t>
                      </a:r>
                      <a:r>
                        <a:rPr lang="en-US" sz="750" dirty="0" err="1"/>
                        <a:t>penghalang</a:t>
                      </a:r>
                      <a:r>
                        <a:rPr lang="en-US" sz="750" dirty="0"/>
                        <a:t>, dan </a:t>
                      </a:r>
                      <a:r>
                        <a:rPr lang="en-US" sz="750" dirty="0" err="1"/>
                        <a:t>interfensi</a:t>
                      </a:r>
                      <a:endParaRPr sz="75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dirty="0" err="1"/>
                        <a:t>Lebih</a:t>
                      </a:r>
                      <a:r>
                        <a:rPr lang="en-US" sz="750" dirty="0"/>
                        <a:t> </a:t>
                      </a:r>
                      <a:r>
                        <a:rPr lang="en-US" sz="750" dirty="0" err="1"/>
                        <a:t>stabil</a:t>
                      </a:r>
                      <a:r>
                        <a:rPr lang="en-US" sz="750" dirty="0"/>
                        <a:t> pada </a:t>
                      </a:r>
                      <a:r>
                        <a:rPr lang="en-US" sz="750" dirty="0" err="1"/>
                        <a:t>lingkungan</a:t>
                      </a:r>
                      <a:r>
                        <a:rPr lang="en-US" sz="750" dirty="0"/>
                        <a:t> industry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154415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lang="en-US" sz="750" b="0" dirty="0"/>
                        <a:t>Harga</a:t>
                      </a:r>
                      <a:endParaRPr sz="750" b="0" dirty="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</a:rPr>
                        <a:t>Rp4.496.750 - Rp5.053.750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</a:rPr>
                        <a:t>Rp1.478.139 – Rp1.674.139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77107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11D3-4CE8-230E-64FD-7D991823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3F145D-A8CD-B99E-B091-04B1E7389ED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4506C-866F-CE1B-3630-62FFC42C59A2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F67D2-7E6B-D147-E8B2-C841D21A35FE}"/>
              </a:ext>
            </a:extLst>
          </p:cNvPr>
          <p:cNvSpPr txBox="1"/>
          <p:nvPr/>
        </p:nvSpPr>
        <p:spPr>
          <a:xfrm>
            <a:off x="365760" y="1662928"/>
            <a:ext cx="8921931" cy="258532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000" b="1" dirty="0">
                <a:solidFill>
                  <a:srgbClr val="FFFFFF"/>
                </a:solidFill>
              </a:rPr>
              <a:t>PERBANDINGAN TEKNIS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3A44E8C-DD80-EAC8-0899-29A096FC2289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503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36676"/>
            <a:ext cx="34804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WIRELESS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1188719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371600"/>
            <a:ext cx="38404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FF5B2D"/>
                </a:solidFill>
              </a:rPr>
              <a:t>10 node ESP32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87068"/>
            <a:ext cx="40233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dirty="0">
                <a:solidFill>
                  <a:srgbClr val="000000"/>
                </a:solidFill>
              </a:rPr>
              <a:t>-   </a:t>
            </a:r>
            <a:r>
              <a:rPr sz="1300" dirty="0" err="1">
                <a:solidFill>
                  <a:srgbClr val="000000"/>
                </a:solidFill>
              </a:rPr>
              <a:t>Koneksi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komunikasi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antar</a:t>
            </a:r>
            <a:r>
              <a:rPr sz="1300" dirty="0">
                <a:solidFill>
                  <a:srgbClr val="000000"/>
                </a:solidFill>
              </a:rPr>
              <a:t> motor </a:t>
            </a:r>
            <a:r>
              <a:rPr sz="1300" dirty="0" err="1">
                <a:solidFill>
                  <a:srgbClr val="000000"/>
                </a:solidFill>
              </a:rPr>
              <a:t>tidak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memakai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kabel</a:t>
            </a:r>
            <a:r>
              <a:rPr sz="1300" dirty="0">
                <a:solidFill>
                  <a:srgbClr val="000000"/>
                </a:solidFill>
              </a:rPr>
              <a:t>.</a:t>
            </a:r>
          </a:p>
          <a:p>
            <a:r>
              <a:rPr sz="1300" dirty="0">
                <a:solidFill>
                  <a:srgbClr val="000000"/>
                </a:solidFill>
              </a:rPr>
              <a:t>-   </a:t>
            </a:r>
            <a:r>
              <a:rPr sz="1300" dirty="0" err="1">
                <a:solidFill>
                  <a:srgbClr val="000000"/>
                </a:solidFill>
              </a:rPr>
              <a:t>Setiap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titik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membutuhkan</a:t>
            </a:r>
            <a:r>
              <a:rPr sz="1300" dirty="0">
                <a:solidFill>
                  <a:srgbClr val="000000"/>
                </a:solidFill>
              </a:rPr>
              <a:t> ESP32, power, box, dan </a:t>
            </a:r>
            <a:r>
              <a:rPr sz="1300" dirty="0" err="1">
                <a:solidFill>
                  <a:srgbClr val="000000"/>
                </a:solidFill>
              </a:rPr>
              <a:t>konfigurasi</a:t>
            </a:r>
            <a:r>
              <a:rPr sz="1300" dirty="0">
                <a:solidFill>
                  <a:srgbClr val="000000"/>
                </a:solidFill>
              </a:rPr>
              <a:t> node.</a:t>
            </a:r>
          </a:p>
          <a:p>
            <a:r>
              <a:rPr sz="1300" dirty="0">
                <a:solidFill>
                  <a:srgbClr val="000000"/>
                </a:solidFill>
              </a:rPr>
              <a:t>-   </a:t>
            </a:r>
            <a:r>
              <a:rPr sz="1300" dirty="0" err="1">
                <a:solidFill>
                  <a:srgbClr val="000000"/>
                </a:solidFill>
              </a:rPr>
              <a:t>Dipengaruhi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posisi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antena</a:t>
            </a:r>
            <a:r>
              <a:rPr sz="1300" dirty="0">
                <a:solidFill>
                  <a:srgbClr val="000000"/>
                </a:solidFill>
              </a:rPr>
              <a:t>, panel </a:t>
            </a:r>
            <a:r>
              <a:rPr sz="1300" dirty="0" err="1">
                <a:solidFill>
                  <a:srgbClr val="000000"/>
                </a:solidFill>
              </a:rPr>
              <a:t>logam</a:t>
            </a:r>
            <a:r>
              <a:rPr sz="1300" dirty="0">
                <a:solidFill>
                  <a:srgbClr val="000000"/>
                </a:solidFill>
              </a:rPr>
              <a:t>, dan noise 2,4 GHz.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440" y="828646"/>
            <a:ext cx="452656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WIRED RS485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09160" y="1188719"/>
            <a:ext cx="39319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92040" y="1417320"/>
            <a:ext cx="347472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00A550"/>
                </a:solidFill>
              </a:rPr>
              <a:t>1 controller pusat + bus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691639"/>
            <a:ext cx="3840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dirty="0">
                <a:solidFill>
                  <a:srgbClr val="000000"/>
                </a:solidFill>
              </a:rPr>
              <a:t>-   </a:t>
            </a:r>
            <a:r>
              <a:rPr sz="1300" dirty="0" err="1">
                <a:solidFill>
                  <a:srgbClr val="000000"/>
                </a:solidFill>
              </a:rPr>
              <a:t>Lebih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stabil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untuk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mesin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memanjang</a:t>
            </a:r>
            <a:r>
              <a:rPr sz="1300" dirty="0">
                <a:solidFill>
                  <a:srgbClr val="000000"/>
                </a:solidFill>
              </a:rPr>
              <a:t>.</a:t>
            </a:r>
          </a:p>
          <a:p>
            <a:r>
              <a:rPr sz="1300" dirty="0">
                <a:solidFill>
                  <a:srgbClr val="000000"/>
                </a:solidFill>
              </a:rPr>
              <a:t>-   </a:t>
            </a:r>
            <a:r>
              <a:rPr sz="1300" dirty="0" err="1">
                <a:solidFill>
                  <a:srgbClr val="000000"/>
                </a:solidFill>
              </a:rPr>
              <a:t>Biaya</a:t>
            </a:r>
            <a:r>
              <a:rPr sz="1300" dirty="0">
                <a:solidFill>
                  <a:srgbClr val="000000"/>
                </a:solidFill>
              </a:rPr>
              <a:t> controller </a:t>
            </a:r>
            <a:r>
              <a:rPr sz="1300" dirty="0" err="1">
                <a:solidFill>
                  <a:srgbClr val="000000"/>
                </a:solidFill>
              </a:rPr>
              <a:t>lebih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rendah</a:t>
            </a:r>
            <a:r>
              <a:rPr sz="1300" dirty="0">
                <a:solidFill>
                  <a:srgbClr val="000000"/>
                </a:solidFill>
              </a:rPr>
              <a:t>.</a:t>
            </a:r>
          </a:p>
          <a:p>
            <a:r>
              <a:rPr sz="1300" dirty="0">
                <a:solidFill>
                  <a:srgbClr val="000000"/>
                </a:solidFill>
              </a:rPr>
              <a:t>-   </a:t>
            </a:r>
            <a:r>
              <a:rPr sz="1300" dirty="0" err="1">
                <a:solidFill>
                  <a:srgbClr val="000000"/>
                </a:solidFill>
              </a:rPr>
              <a:t>Perlu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kabel</a:t>
            </a:r>
            <a:r>
              <a:rPr sz="1300" dirty="0">
                <a:solidFill>
                  <a:srgbClr val="000000"/>
                </a:solidFill>
              </a:rPr>
              <a:t> twisted pair, </a:t>
            </a:r>
            <a:r>
              <a:rPr sz="1300" dirty="0" err="1">
                <a:solidFill>
                  <a:srgbClr val="000000"/>
                </a:solidFill>
              </a:rPr>
              <a:t>terminasi</a:t>
            </a:r>
            <a:r>
              <a:rPr sz="1300" dirty="0">
                <a:solidFill>
                  <a:srgbClr val="000000"/>
                </a:solidFill>
              </a:rPr>
              <a:t>, </a:t>
            </a:r>
            <a:r>
              <a:rPr sz="1300" dirty="0" err="1">
                <a:solidFill>
                  <a:srgbClr val="000000"/>
                </a:solidFill>
              </a:rPr>
              <a:t>alamat</a:t>
            </a:r>
            <a:r>
              <a:rPr sz="1300" dirty="0">
                <a:solidFill>
                  <a:srgbClr val="000000"/>
                </a:solidFill>
              </a:rPr>
              <a:t> PZEM, dan </a:t>
            </a:r>
            <a:r>
              <a:rPr sz="1300" dirty="0" err="1">
                <a:solidFill>
                  <a:srgbClr val="000000"/>
                </a:solidFill>
              </a:rPr>
              <a:t>proteksi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jalur</a:t>
            </a:r>
            <a:r>
              <a:rPr sz="13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85" y="3508950"/>
            <a:ext cx="118872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000000"/>
                </a:solidFill>
              </a:rPr>
              <a:t>PZEM</a:t>
            </a:r>
          </a:p>
          <a:p>
            <a:pPr algn="ctr"/>
            <a:r>
              <a:rPr sz="750" b="1">
                <a:solidFill>
                  <a:srgbClr val="000000"/>
                </a:solidFill>
              </a:rPr>
              <a:t>Motor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20685" y="3508950"/>
            <a:ext cx="123444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000000"/>
                </a:solidFill>
              </a:rPr>
              <a:t>TTL-RS485</a:t>
            </a:r>
          </a:p>
          <a:p>
            <a:pPr algn="ctr"/>
            <a:r>
              <a:rPr sz="750" b="1">
                <a:solidFill>
                  <a:srgbClr val="000000"/>
                </a:solidFill>
              </a:rPr>
              <a:t>Node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66605" y="3508950"/>
            <a:ext cx="132588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000000"/>
                </a:solidFill>
              </a:rPr>
              <a:t>RS485</a:t>
            </a:r>
          </a:p>
          <a:p>
            <a:pPr algn="ctr"/>
            <a:r>
              <a:rPr sz="750" b="1">
                <a:solidFill>
                  <a:srgbClr val="000000"/>
                </a:solidFill>
              </a:rPr>
              <a:t>Bus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49685" y="3508950"/>
            <a:ext cx="123444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 dirty="0">
                <a:solidFill>
                  <a:srgbClr val="000000"/>
                </a:solidFill>
              </a:rPr>
              <a:t>ESP32</a:t>
            </a:r>
          </a:p>
          <a:p>
            <a:pPr algn="ctr"/>
            <a:r>
              <a:rPr sz="750" b="1" dirty="0">
                <a:solidFill>
                  <a:srgbClr val="000000"/>
                </a:solidFill>
              </a:rPr>
              <a:t>Pusat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5605" y="3508950"/>
            <a:ext cx="11430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000000"/>
                </a:solidFill>
              </a:rPr>
              <a:t>Dashboard</a:t>
            </a:r>
          </a:p>
          <a:p>
            <a:pPr algn="ctr"/>
            <a:r>
              <a:rPr sz="750" b="1">
                <a:solidFill>
                  <a:srgbClr val="000000"/>
                </a:solidFill>
              </a:rPr>
              <a:t>Web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09204" y="3755839"/>
            <a:ext cx="411481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55125" y="3755839"/>
            <a:ext cx="41148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92485" y="3755839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84125" y="3755839"/>
            <a:ext cx="41148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AEBB6-5F9F-9A15-B406-53A16B713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8D09B1-0F87-2485-CA14-C85E8C0CD55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783CC-1A9D-66E6-FB0A-E208C48402CA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1D992-1E90-F5CF-18AA-C4BC8BFF42E5}"/>
              </a:ext>
            </a:extLst>
          </p:cNvPr>
          <p:cNvSpPr txBox="1"/>
          <p:nvPr/>
        </p:nvSpPr>
        <p:spPr>
          <a:xfrm>
            <a:off x="365760" y="1759583"/>
            <a:ext cx="8921931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ANALISIS RISIKO</a:t>
            </a:r>
          </a:p>
          <a:p>
            <a:r>
              <a:rPr sz="2800" b="1">
                <a:solidFill>
                  <a:srgbClr val="FFFFFF"/>
                </a:solidFill>
              </a:rPr>
              <a:t>DAN MITIGASI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8F9EA82-066F-6B60-5EBF-AC104C0A1F9D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305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0" y="4249347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1359843"/>
            <a:ext cx="457199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88919" y="1359843"/>
            <a:ext cx="457201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40" y="1359843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23560" y="1359843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1359843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000000"/>
                </a:solidFill>
              </a:rPr>
              <a:t>1</a:t>
            </a:r>
          </a:p>
          <a:p>
            <a:pPr algn="ctr"/>
            <a:r>
              <a:rPr sz="1200" b="1" dirty="0">
                <a:solidFill>
                  <a:srgbClr val="000000"/>
                </a:solidFill>
              </a:rPr>
              <a:t>Power</a:t>
            </a:r>
          </a:p>
          <a:p>
            <a:pPr algn="ctr"/>
            <a:r>
              <a:rPr sz="1200" b="1" dirty="0">
                <a:solidFill>
                  <a:srgbClr val="000000"/>
                </a:solidFill>
              </a:rPr>
              <a:t>5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799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2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Jarak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Mesin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3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Noise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Motor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4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Alamat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PZEM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70069" y="783771"/>
            <a:ext cx="1253692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5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Bus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RS485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783771"/>
            <a:ext cx="1253691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6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Data ke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292532"/>
            <a:ext cx="246798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FF5B2D"/>
                </a:solidFill>
              </a:rPr>
              <a:t>RISIKO OPSI WIRELESS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" y="2658291"/>
            <a:ext cx="3657599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0040" y="2841171"/>
            <a:ext cx="4206240" cy="124649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50" dirty="0">
                <a:solidFill>
                  <a:srgbClr val="000000"/>
                </a:solidFill>
              </a:rPr>
              <a:t>- </a:t>
            </a:r>
            <a:r>
              <a:rPr sz="1250" dirty="0" err="1">
                <a:solidFill>
                  <a:srgbClr val="000000"/>
                </a:solidFill>
              </a:rPr>
              <a:t>Sinyal</a:t>
            </a:r>
            <a:r>
              <a:rPr sz="1250" dirty="0">
                <a:solidFill>
                  <a:srgbClr val="000000"/>
                </a:solidFill>
              </a:rPr>
              <a:t> ESP-NOW </a:t>
            </a:r>
            <a:r>
              <a:rPr sz="1250" dirty="0" err="1">
                <a:solidFill>
                  <a:srgbClr val="000000"/>
                </a:solidFill>
              </a:rPr>
              <a:t>dapat</a:t>
            </a:r>
            <a:r>
              <a:rPr sz="1250" dirty="0">
                <a:solidFill>
                  <a:srgbClr val="000000"/>
                </a:solidFill>
              </a:rPr>
              <a:t> </a:t>
            </a:r>
            <a:r>
              <a:rPr sz="1250" dirty="0" err="1">
                <a:solidFill>
                  <a:srgbClr val="000000"/>
                </a:solidFill>
              </a:rPr>
              <a:t>terganggu</a:t>
            </a:r>
            <a:r>
              <a:rPr sz="1250" dirty="0">
                <a:solidFill>
                  <a:srgbClr val="000000"/>
                </a:solidFill>
              </a:rPr>
              <a:t> panel </a:t>
            </a:r>
            <a:r>
              <a:rPr sz="1250" dirty="0" err="1">
                <a:solidFill>
                  <a:srgbClr val="000000"/>
                </a:solidFill>
              </a:rPr>
              <a:t>logam</a:t>
            </a:r>
            <a:r>
              <a:rPr sz="1250" dirty="0">
                <a:solidFill>
                  <a:srgbClr val="000000"/>
                </a:solidFill>
              </a:rPr>
              <a:t>.</a:t>
            </a:r>
          </a:p>
          <a:p>
            <a:r>
              <a:rPr sz="1250" dirty="0">
                <a:solidFill>
                  <a:srgbClr val="000000"/>
                </a:solidFill>
              </a:rPr>
              <a:t>- </a:t>
            </a:r>
            <a:r>
              <a:rPr sz="1250" dirty="0" err="1">
                <a:solidFill>
                  <a:srgbClr val="000000"/>
                </a:solidFill>
              </a:rPr>
              <a:t>Setiap</a:t>
            </a:r>
            <a:r>
              <a:rPr sz="1250" dirty="0">
                <a:solidFill>
                  <a:srgbClr val="000000"/>
                </a:solidFill>
              </a:rPr>
              <a:t> motor </a:t>
            </a:r>
            <a:r>
              <a:rPr sz="1250" dirty="0" err="1">
                <a:solidFill>
                  <a:srgbClr val="000000"/>
                </a:solidFill>
              </a:rPr>
              <a:t>membutuhkan</a:t>
            </a:r>
            <a:r>
              <a:rPr sz="1250" dirty="0">
                <a:solidFill>
                  <a:srgbClr val="000000"/>
                </a:solidFill>
              </a:rPr>
              <a:t> ESP32 dan supply </a:t>
            </a:r>
            <a:r>
              <a:rPr sz="1250" dirty="0" err="1">
                <a:solidFill>
                  <a:srgbClr val="000000"/>
                </a:solidFill>
              </a:rPr>
              <a:t>sendiri</a:t>
            </a:r>
            <a:r>
              <a:rPr sz="1250" dirty="0">
                <a:solidFill>
                  <a:srgbClr val="000000"/>
                </a:solidFill>
              </a:rPr>
              <a:t>.</a:t>
            </a:r>
          </a:p>
          <a:p>
            <a:r>
              <a:rPr sz="1250" dirty="0">
                <a:solidFill>
                  <a:srgbClr val="000000"/>
                </a:solidFill>
              </a:rPr>
              <a:t>- </a:t>
            </a:r>
            <a:r>
              <a:rPr sz="1250" dirty="0" err="1">
                <a:solidFill>
                  <a:srgbClr val="000000"/>
                </a:solidFill>
              </a:rPr>
              <a:t>Konfigurasi</a:t>
            </a:r>
            <a:r>
              <a:rPr sz="1250" dirty="0">
                <a:solidFill>
                  <a:srgbClr val="000000"/>
                </a:solidFill>
              </a:rPr>
              <a:t> node </a:t>
            </a:r>
            <a:r>
              <a:rPr sz="1250" dirty="0" err="1">
                <a:solidFill>
                  <a:srgbClr val="000000"/>
                </a:solidFill>
              </a:rPr>
              <a:t>lebih</a:t>
            </a:r>
            <a:r>
              <a:rPr sz="1250" dirty="0">
                <a:solidFill>
                  <a:srgbClr val="000000"/>
                </a:solidFill>
              </a:rPr>
              <a:t> </a:t>
            </a:r>
            <a:r>
              <a:rPr sz="1250" dirty="0" err="1">
                <a:solidFill>
                  <a:srgbClr val="000000"/>
                </a:solidFill>
              </a:rPr>
              <a:t>banyak</a:t>
            </a:r>
            <a:r>
              <a:rPr sz="1250" dirty="0">
                <a:solidFill>
                  <a:srgbClr val="000000"/>
                </a:solidFill>
              </a:rPr>
              <a:t>.</a:t>
            </a:r>
          </a:p>
          <a:p>
            <a:r>
              <a:rPr sz="1250" dirty="0">
                <a:solidFill>
                  <a:srgbClr val="000000"/>
                </a:solidFill>
              </a:rPr>
              <a:t>-</a:t>
            </a:r>
            <a:r>
              <a:rPr lang="en-US" sz="1250" dirty="0">
                <a:solidFill>
                  <a:srgbClr val="000000"/>
                </a:solidFill>
              </a:rPr>
              <a:t> </a:t>
            </a:r>
            <a:r>
              <a:rPr sz="1250" dirty="0">
                <a:solidFill>
                  <a:srgbClr val="000000"/>
                </a:solidFill>
              </a:rPr>
              <a:t>Troubleshooting </a:t>
            </a:r>
            <a:r>
              <a:rPr sz="1250" dirty="0" err="1">
                <a:solidFill>
                  <a:srgbClr val="000000"/>
                </a:solidFill>
              </a:rPr>
              <a:t>tersebar</a:t>
            </a:r>
            <a:r>
              <a:rPr sz="1250" dirty="0">
                <a:solidFill>
                  <a:srgbClr val="000000"/>
                </a:solidFill>
              </a:rPr>
              <a:t> di 10 </a:t>
            </a:r>
            <a:r>
              <a:rPr sz="1250" dirty="0" err="1">
                <a:solidFill>
                  <a:srgbClr val="000000"/>
                </a:solidFill>
              </a:rPr>
              <a:t>titik</a:t>
            </a:r>
            <a:r>
              <a:rPr sz="1250" dirty="0">
                <a:solidFill>
                  <a:srgbClr val="000000"/>
                </a:solidFill>
              </a:rPr>
              <a:t>.</a:t>
            </a:r>
            <a:endParaRPr lang="en-US" sz="1250" dirty="0">
              <a:solidFill>
                <a:srgbClr val="000000"/>
              </a:solidFill>
            </a:endParaRPr>
          </a:p>
          <a:p>
            <a:r>
              <a:rPr lang="en-US" sz="1250" dirty="0">
                <a:solidFill>
                  <a:srgbClr val="000000"/>
                </a:solidFill>
              </a:rPr>
              <a:t>- Rawan </a:t>
            </a:r>
            <a:r>
              <a:rPr lang="en-US" sz="1250" dirty="0" err="1">
                <a:solidFill>
                  <a:srgbClr val="000000"/>
                </a:solidFill>
              </a:rPr>
              <a:t>mengganggu</a:t>
            </a:r>
            <a:r>
              <a:rPr lang="en-US" sz="1250" dirty="0">
                <a:solidFill>
                  <a:srgbClr val="000000"/>
                </a:solidFill>
              </a:rPr>
              <a:t> </a:t>
            </a:r>
            <a:r>
              <a:rPr lang="en-US" sz="1250" dirty="0" err="1">
                <a:solidFill>
                  <a:srgbClr val="000000"/>
                </a:solidFill>
              </a:rPr>
              <a:t>sinyal</a:t>
            </a:r>
            <a:r>
              <a:rPr lang="en-US" sz="1250" dirty="0">
                <a:solidFill>
                  <a:srgbClr val="000000"/>
                </a:solidFill>
              </a:rPr>
              <a:t> </a:t>
            </a:r>
            <a:r>
              <a:rPr lang="en-US" sz="1250" dirty="0" err="1">
                <a:solidFill>
                  <a:srgbClr val="000000"/>
                </a:solidFill>
              </a:rPr>
              <a:t>komunikasi</a:t>
            </a:r>
            <a:r>
              <a:rPr lang="en-US" sz="1250" dirty="0">
                <a:solidFill>
                  <a:srgbClr val="000000"/>
                </a:solidFill>
              </a:rPr>
              <a:t> lain</a:t>
            </a:r>
            <a:endParaRPr sz="1250" dirty="0">
              <a:solidFill>
                <a:srgbClr val="0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46320" y="2276033"/>
            <a:ext cx="377731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RISIKO OPSI WIRED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46320" y="2658291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92040" y="2841171"/>
            <a:ext cx="3931920" cy="16312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50" dirty="0">
                <a:solidFill>
                  <a:srgbClr val="000000"/>
                </a:solidFill>
              </a:rPr>
              <a:t>- Kabel bus </a:t>
            </a:r>
            <a:r>
              <a:rPr sz="1250" dirty="0" err="1">
                <a:solidFill>
                  <a:srgbClr val="000000"/>
                </a:solidFill>
              </a:rPr>
              <a:t>harus</a:t>
            </a:r>
            <a:r>
              <a:rPr sz="1250" dirty="0">
                <a:solidFill>
                  <a:srgbClr val="000000"/>
                </a:solidFill>
              </a:rPr>
              <a:t> </a:t>
            </a:r>
            <a:r>
              <a:rPr sz="1250" dirty="0" err="1">
                <a:solidFill>
                  <a:srgbClr val="000000"/>
                </a:solidFill>
              </a:rPr>
              <a:t>ditarik</a:t>
            </a:r>
            <a:r>
              <a:rPr sz="1250" dirty="0">
                <a:solidFill>
                  <a:srgbClr val="000000"/>
                </a:solidFill>
              </a:rPr>
              <a:t> </a:t>
            </a:r>
            <a:r>
              <a:rPr sz="1250" dirty="0" err="1">
                <a:solidFill>
                  <a:srgbClr val="000000"/>
                </a:solidFill>
              </a:rPr>
              <a:t>sepanjang</a:t>
            </a:r>
            <a:r>
              <a:rPr sz="1250" dirty="0">
                <a:solidFill>
                  <a:srgbClr val="000000"/>
                </a:solidFill>
              </a:rPr>
              <a:t> </a:t>
            </a:r>
            <a:r>
              <a:rPr sz="1250" dirty="0" err="1">
                <a:solidFill>
                  <a:srgbClr val="000000"/>
                </a:solidFill>
              </a:rPr>
              <a:t>mesin</a:t>
            </a:r>
            <a:r>
              <a:rPr sz="1250" dirty="0">
                <a:solidFill>
                  <a:srgbClr val="000000"/>
                </a:solidFill>
              </a:rPr>
              <a:t>.</a:t>
            </a:r>
          </a:p>
          <a:p>
            <a:r>
              <a:rPr sz="1250" dirty="0">
                <a:solidFill>
                  <a:srgbClr val="000000"/>
                </a:solidFill>
              </a:rPr>
              <a:t>- Jika bus </a:t>
            </a:r>
            <a:r>
              <a:rPr sz="1250" dirty="0" err="1">
                <a:solidFill>
                  <a:srgbClr val="000000"/>
                </a:solidFill>
              </a:rPr>
              <a:t>putus</a:t>
            </a:r>
            <a:r>
              <a:rPr sz="1250" dirty="0">
                <a:solidFill>
                  <a:srgbClr val="000000"/>
                </a:solidFill>
              </a:rPr>
              <a:t>, node </a:t>
            </a:r>
            <a:r>
              <a:rPr sz="1250" dirty="0" err="1">
                <a:solidFill>
                  <a:srgbClr val="000000"/>
                </a:solidFill>
              </a:rPr>
              <a:t>setelah</a:t>
            </a:r>
            <a:r>
              <a:rPr sz="1250" dirty="0">
                <a:solidFill>
                  <a:srgbClr val="000000"/>
                </a:solidFill>
              </a:rPr>
              <a:t> </a:t>
            </a:r>
            <a:r>
              <a:rPr sz="1250" dirty="0" err="1">
                <a:solidFill>
                  <a:srgbClr val="000000"/>
                </a:solidFill>
              </a:rPr>
              <a:t>titik</a:t>
            </a:r>
            <a:r>
              <a:rPr sz="1250" dirty="0">
                <a:solidFill>
                  <a:srgbClr val="000000"/>
                </a:solidFill>
              </a:rPr>
              <a:t> </a:t>
            </a:r>
            <a:r>
              <a:rPr sz="1250" dirty="0" err="1">
                <a:solidFill>
                  <a:srgbClr val="000000"/>
                </a:solidFill>
              </a:rPr>
              <a:t>putus</a:t>
            </a:r>
            <a:r>
              <a:rPr sz="1250" dirty="0">
                <a:solidFill>
                  <a:srgbClr val="000000"/>
                </a:solidFill>
              </a:rPr>
              <a:t> </a:t>
            </a:r>
            <a:r>
              <a:rPr sz="1250" dirty="0" err="1">
                <a:solidFill>
                  <a:srgbClr val="000000"/>
                </a:solidFill>
              </a:rPr>
              <a:t>dapat</a:t>
            </a:r>
            <a:r>
              <a:rPr sz="1250" dirty="0">
                <a:solidFill>
                  <a:srgbClr val="000000"/>
                </a:solidFill>
              </a:rPr>
              <a:t> </a:t>
            </a:r>
            <a:r>
              <a:rPr sz="1250" dirty="0" err="1">
                <a:solidFill>
                  <a:srgbClr val="000000"/>
                </a:solidFill>
              </a:rPr>
              <a:t>terganggu</a:t>
            </a:r>
            <a:r>
              <a:rPr lang="en-US" sz="1250" dirty="0">
                <a:solidFill>
                  <a:srgbClr val="000000"/>
                </a:solidFill>
              </a:rPr>
              <a:t> (</a:t>
            </a:r>
            <a:r>
              <a:rPr lang="en-US" sz="1250" dirty="0" err="1">
                <a:solidFill>
                  <a:srgbClr val="000000"/>
                </a:solidFill>
              </a:rPr>
              <a:t>bisa</a:t>
            </a:r>
            <a:r>
              <a:rPr lang="en-US" sz="1250" dirty="0">
                <a:solidFill>
                  <a:srgbClr val="000000"/>
                </a:solidFill>
              </a:rPr>
              <a:t> </a:t>
            </a:r>
            <a:r>
              <a:rPr lang="en-US" sz="1250" dirty="0" err="1">
                <a:solidFill>
                  <a:srgbClr val="000000"/>
                </a:solidFill>
              </a:rPr>
              <a:t>diakali</a:t>
            </a:r>
            <a:r>
              <a:rPr lang="en-US" sz="1250" dirty="0">
                <a:solidFill>
                  <a:srgbClr val="000000"/>
                </a:solidFill>
              </a:rPr>
              <a:t> </a:t>
            </a:r>
            <a:r>
              <a:rPr lang="en-US" sz="1250" dirty="0" err="1">
                <a:solidFill>
                  <a:srgbClr val="000000"/>
                </a:solidFill>
              </a:rPr>
              <a:t>dengan</a:t>
            </a:r>
            <a:r>
              <a:rPr lang="en-US" sz="1250" dirty="0">
                <a:solidFill>
                  <a:srgbClr val="000000"/>
                </a:solidFill>
              </a:rPr>
              <a:t> </a:t>
            </a:r>
            <a:r>
              <a:rPr lang="en-US" sz="1250" dirty="0" err="1">
                <a:solidFill>
                  <a:srgbClr val="000000"/>
                </a:solidFill>
              </a:rPr>
              <a:t>mengubah</a:t>
            </a:r>
            <a:r>
              <a:rPr lang="en-US" sz="1250" dirty="0">
                <a:solidFill>
                  <a:srgbClr val="000000"/>
                </a:solidFill>
              </a:rPr>
              <a:t> system </a:t>
            </a:r>
            <a:r>
              <a:rPr lang="en-US" sz="1250" dirty="0" err="1">
                <a:solidFill>
                  <a:srgbClr val="000000"/>
                </a:solidFill>
              </a:rPr>
              <a:t>pengkabelan</a:t>
            </a:r>
            <a:r>
              <a:rPr lang="en-US" sz="1250" dirty="0">
                <a:solidFill>
                  <a:srgbClr val="000000"/>
                </a:solidFill>
              </a:rPr>
              <a:t>)</a:t>
            </a:r>
            <a:r>
              <a:rPr sz="1250" dirty="0">
                <a:solidFill>
                  <a:srgbClr val="000000"/>
                </a:solidFill>
              </a:rPr>
              <a:t>.</a:t>
            </a:r>
          </a:p>
          <a:p>
            <a:r>
              <a:rPr sz="1250" dirty="0">
                <a:solidFill>
                  <a:srgbClr val="000000"/>
                </a:solidFill>
              </a:rPr>
              <a:t>- </a:t>
            </a:r>
            <a:r>
              <a:rPr sz="1250" dirty="0" err="1">
                <a:solidFill>
                  <a:srgbClr val="000000"/>
                </a:solidFill>
              </a:rPr>
              <a:t>Perlu</a:t>
            </a:r>
            <a:r>
              <a:rPr sz="1250" dirty="0">
                <a:solidFill>
                  <a:srgbClr val="000000"/>
                </a:solidFill>
              </a:rPr>
              <a:t> </a:t>
            </a:r>
            <a:r>
              <a:rPr sz="1250" dirty="0" err="1">
                <a:solidFill>
                  <a:srgbClr val="000000"/>
                </a:solidFill>
              </a:rPr>
              <a:t>terminasi</a:t>
            </a:r>
            <a:r>
              <a:rPr sz="1250" dirty="0">
                <a:solidFill>
                  <a:srgbClr val="000000"/>
                </a:solidFill>
              </a:rPr>
              <a:t> 120 ohm di dua </a:t>
            </a:r>
            <a:r>
              <a:rPr sz="1250" dirty="0" err="1">
                <a:solidFill>
                  <a:srgbClr val="000000"/>
                </a:solidFill>
              </a:rPr>
              <a:t>ujung</a:t>
            </a:r>
            <a:r>
              <a:rPr sz="1250" dirty="0">
                <a:solidFill>
                  <a:srgbClr val="000000"/>
                </a:solidFill>
              </a:rPr>
              <a:t> dan </a:t>
            </a:r>
            <a:r>
              <a:rPr sz="1250" dirty="0" err="1">
                <a:solidFill>
                  <a:srgbClr val="000000"/>
                </a:solidFill>
              </a:rPr>
              <a:t>alamat</a:t>
            </a:r>
            <a:r>
              <a:rPr sz="1250" dirty="0">
                <a:solidFill>
                  <a:srgbClr val="000000"/>
                </a:solidFill>
              </a:rPr>
              <a:t> </a:t>
            </a:r>
            <a:r>
              <a:rPr sz="1250" dirty="0" err="1">
                <a:solidFill>
                  <a:srgbClr val="000000"/>
                </a:solidFill>
              </a:rPr>
              <a:t>unik</a:t>
            </a:r>
            <a:r>
              <a:rPr sz="1250" dirty="0">
                <a:solidFill>
                  <a:srgbClr val="000000"/>
                </a:solidFill>
              </a:rPr>
              <a:t>.</a:t>
            </a:r>
          </a:p>
          <a:p>
            <a:r>
              <a:rPr sz="1250" dirty="0">
                <a:solidFill>
                  <a:srgbClr val="000000"/>
                </a:solidFill>
              </a:rPr>
              <a:t>- </a:t>
            </a:r>
            <a:r>
              <a:rPr sz="1250" dirty="0" err="1">
                <a:solidFill>
                  <a:srgbClr val="000000"/>
                </a:solidFill>
              </a:rPr>
              <a:t>Distribusi</a:t>
            </a:r>
            <a:r>
              <a:rPr sz="1250" dirty="0">
                <a:solidFill>
                  <a:srgbClr val="000000"/>
                </a:solidFill>
              </a:rPr>
              <a:t> 5 V </a:t>
            </a:r>
            <a:r>
              <a:rPr sz="1250" dirty="0" err="1">
                <a:solidFill>
                  <a:srgbClr val="000000"/>
                </a:solidFill>
              </a:rPr>
              <a:t>harus</a:t>
            </a:r>
            <a:r>
              <a:rPr sz="1250" dirty="0">
                <a:solidFill>
                  <a:srgbClr val="000000"/>
                </a:solidFill>
              </a:rPr>
              <a:t> </a:t>
            </a:r>
            <a:r>
              <a:rPr sz="1250" dirty="0" err="1">
                <a:solidFill>
                  <a:srgbClr val="000000"/>
                </a:solidFill>
              </a:rPr>
              <a:t>memperhatikan</a:t>
            </a:r>
            <a:r>
              <a:rPr sz="1250" dirty="0">
                <a:solidFill>
                  <a:srgbClr val="000000"/>
                </a:solidFill>
              </a:rPr>
              <a:t> drop </a:t>
            </a:r>
            <a:r>
              <a:rPr sz="1250" dirty="0" err="1">
                <a:solidFill>
                  <a:srgbClr val="000000"/>
                </a:solidFill>
              </a:rPr>
              <a:t>tegangan</a:t>
            </a:r>
            <a:r>
              <a:rPr sz="125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4E6C7-7A9C-AE98-8D77-A80841B64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4CEC45-BEEE-93E5-5F9A-F4E73D7E614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59939-13FE-78CA-F37B-17B22619E7E4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5C038-57A5-78AE-1BA9-3E450FA56991}"/>
              </a:ext>
            </a:extLst>
          </p:cNvPr>
          <p:cNvSpPr txBox="1"/>
          <p:nvPr/>
        </p:nvSpPr>
        <p:spPr>
          <a:xfrm>
            <a:off x="365760" y="1759583"/>
            <a:ext cx="8921931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WIRING DIAGRAM</a:t>
            </a:r>
            <a:endParaRPr sz="2800" b="1" dirty="0">
              <a:solidFill>
                <a:srgbClr val="FFFFFF"/>
              </a:solidFill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6047D9F-44BD-AB44-40DD-E1F3CCD3ED82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000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D5B56-4736-842C-FBBF-D5595612B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E55534-1216-6299-C8D1-E0CF9D5A045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B3ED62-5CED-00A8-0A43-5CEAD8C62782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C21BE5-B2D8-0DF0-5860-BFAA8EAD9285}"/>
              </a:ext>
            </a:extLst>
          </p:cNvPr>
          <p:cNvSpPr txBox="1"/>
          <p:nvPr/>
        </p:nvSpPr>
        <p:spPr>
          <a:xfrm>
            <a:off x="365760" y="1759583"/>
            <a:ext cx="8921931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WIRELESS</a:t>
            </a:r>
            <a:endParaRPr sz="2800" b="1" dirty="0">
              <a:solidFill>
                <a:srgbClr val="FFFFFF"/>
              </a:solidFill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297A0F67-6CFB-8530-2216-09FE58549767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849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16315-3955-A8FE-81B9-995CB5545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7CFE7F-2EF7-D62F-02AF-D66BBDA24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305" y="293172"/>
            <a:ext cx="6561389" cy="455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616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2D130-B5B3-C5A9-EC0C-1C129A288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B978A0-8D99-74E9-3CED-A63655F20CE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EA101B-D3CA-545C-253E-AA570EEE14B6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8F27E3-6A2C-9739-3C8F-D0380C9F2B4A}"/>
              </a:ext>
            </a:extLst>
          </p:cNvPr>
          <p:cNvSpPr txBox="1"/>
          <p:nvPr/>
        </p:nvSpPr>
        <p:spPr>
          <a:xfrm>
            <a:off x="365760" y="1759583"/>
            <a:ext cx="8921931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WIRED</a:t>
            </a:r>
            <a:endParaRPr sz="2800" b="1" dirty="0">
              <a:solidFill>
                <a:srgbClr val="FFFFFF"/>
              </a:solidFill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D953F722-3ABF-ABCE-3EF3-D1AF05C05856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090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5E250-E133-A9DB-BF80-62DCBC760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D0F3AF-43B9-1205-97FC-ACB9799E9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564" y="296983"/>
            <a:ext cx="6370872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27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4D32C-4F3C-DC3B-DD40-87F5D4485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C13663-511B-9B5C-6AB8-033FF78258A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A13C4-FD1B-9F8B-B1B6-378A25BAF051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30255-AD42-BFAD-65E4-C85F5B9BB1F0}"/>
              </a:ext>
            </a:extLst>
          </p:cNvPr>
          <p:cNvSpPr txBox="1"/>
          <p:nvPr/>
        </p:nvSpPr>
        <p:spPr>
          <a:xfrm>
            <a:off x="365760" y="1167926"/>
            <a:ext cx="8921931" cy="92333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 dirty="0">
                <a:solidFill>
                  <a:srgbClr val="FFFFFF"/>
                </a:solidFill>
              </a:rPr>
              <a:t>REKOMENDASI</a:t>
            </a:r>
          </a:p>
          <a:p>
            <a:r>
              <a:rPr sz="2800" b="1" dirty="0">
                <a:solidFill>
                  <a:srgbClr val="FFFFFF"/>
                </a:solidFill>
              </a:rPr>
              <a:t>AKHIR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F9DE868-2021-6A51-CCF2-EFA7185BBB0C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066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81052" y="1867987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984172" y="1867987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12972" y="1867987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9412" y="1029215"/>
            <a:ext cx="19202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FF5B2D"/>
                </a:solidFill>
              </a:rPr>
              <a:t>Titik Motor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8272" y="1182187"/>
            <a:ext cx="17373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FF5B2D"/>
                </a:solidFill>
              </a:rPr>
              <a:t>Node Meter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8572" y="1019881"/>
            <a:ext cx="18288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FF5B2D"/>
                </a:solidFill>
              </a:rPr>
              <a:t>Bus Komunikasi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5992" y="1125157"/>
            <a:ext cx="17373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FF5B2D"/>
                </a:solidFill>
              </a:rPr>
              <a:t>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572" y="1547947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 dirty="0">
                <a:solidFill>
                  <a:srgbClr val="000000"/>
                </a:solidFill>
              </a:rPr>
              <a:t>Motor 01</a:t>
            </a:r>
            <a:r>
              <a:rPr lang="en-US" sz="700" b="1" dirty="0">
                <a:solidFill>
                  <a:srgbClr val="000000"/>
                </a:solidFill>
              </a:rPr>
              <a:t> - 30</a:t>
            </a:r>
            <a:endParaRPr sz="700" b="1" dirty="0">
              <a:solidFill>
                <a:srgbClr val="000000"/>
              </a:solidFill>
            </a:endParaRPr>
          </a:p>
          <a:p>
            <a:pPr algn="ctr"/>
            <a:r>
              <a:rPr sz="700" b="1" dirty="0" err="1">
                <a:solidFill>
                  <a:srgbClr val="000000"/>
                </a:solidFill>
              </a:rPr>
              <a:t>Kapasitor</a:t>
            </a:r>
            <a:endParaRPr sz="700" b="1" dirty="0">
              <a:solidFill>
                <a:srgbClr val="000000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612572" y="1547947"/>
            <a:ext cx="132588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000000"/>
                </a:solidFill>
              </a:rPr>
              <a:t>PZEM-004T</a:t>
            </a:r>
          </a:p>
          <a:p>
            <a:pPr algn="ctr"/>
            <a:r>
              <a:rPr sz="700" b="1">
                <a:solidFill>
                  <a:srgbClr val="000000"/>
                </a:solidFill>
              </a:rPr>
              <a:t>Alamat 0x01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32812" y="1547947"/>
            <a:ext cx="12344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 dirty="0">
                <a:solidFill>
                  <a:srgbClr val="000000"/>
                </a:solidFill>
              </a:rPr>
              <a:t>TTL-RS485</a:t>
            </a:r>
          </a:p>
          <a:p>
            <a:pPr algn="ctr"/>
            <a:r>
              <a:rPr sz="700" b="1" dirty="0">
                <a:solidFill>
                  <a:srgbClr val="000000"/>
                </a:solidFill>
              </a:rPr>
              <a:t>Auto Direction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7292" y="1547947"/>
            <a:ext cx="914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000000"/>
                </a:solidFill>
              </a:rPr>
              <a:t>ESP32 Pusat</a:t>
            </a:r>
          </a:p>
          <a:p>
            <a:pPr algn="ctr"/>
            <a:r>
              <a:rPr sz="700" b="1">
                <a:solidFill>
                  <a:srgbClr val="000000"/>
                </a:solidFill>
              </a:rPr>
              <a:t>Polling 1 Jam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3172" y="1547947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000000"/>
                </a:solidFill>
              </a:rPr>
              <a:t>Dashboard</a:t>
            </a:r>
          </a:p>
          <a:p>
            <a:pPr algn="ctr"/>
            <a:r>
              <a:rPr sz="700" b="1">
                <a:solidFill>
                  <a:srgbClr val="000000"/>
                </a:solidFill>
              </a:rPr>
              <a:t>Historis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572" y="2887054"/>
            <a:ext cx="24250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REKOMENDASI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6572" y="3266529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26572" y="3431122"/>
            <a:ext cx="8046720" cy="69249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1300" b="0" dirty="0" err="1">
                <a:solidFill>
                  <a:srgbClr val="000000"/>
                </a:solidFill>
              </a:rPr>
              <a:t>Mengg</a:t>
            </a:r>
            <a:r>
              <a:rPr sz="1300" b="0" dirty="0" err="1">
                <a:solidFill>
                  <a:srgbClr val="000000"/>
                </a:solidFill>
              </a:rPr>
              <a:t>unakan</a:t>
            </a:r>
            <a:r>
              <a:rPr sz="1300" b="0" dirty="0">
                <a:solidFill>
                  <a:srgbClr val="000000"/>
                </a:solidFill>
              </a:rPr>
              <a:t> wired RS485 </a:t>
            </a:r>
            <a:r>
              <a:rPr sz="1300" b="0" dirty="0" err="1">
                <a:solidFill>
                  <a:srgbClr val="000000"/>
                </a:solidFill>
              </a:rPr>
              <a:t>sebagai</a:t>
            </a:r>
            <a:r>
              <a:rPr sz="1300" b="0" dirty="0">
                <a:solidFill>
                  <a:srgbClr val="000000"/>
                </a:solidFill>
              </a:rPr>
              <a:t> backbone pada </a:t>
            </a:r>
            <a:r>
              <a:rPr sz="1300" b="0" dirty="0" err="1">
                <a:solidFill>
                  <a:srgbClr val="000000"/>
                </a:solidFill>
              </a:rPr>
              <a:t>mesin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memanjang</a:t>
            </a:r>
            <a:r>
              <a:rPr sz="1300" b="0" dirty="0">
                <a:solidFill>
                  <a:srgbClr val="000000"/>
                </a:solidFill>
              </a:rPr>
              <a:t>, </a:t>
            </a:r>
            <a:r>
              <a:rPr sz="1300" b="0" dirty="0" err="1">
                <a:solidFill>
                  <a:srgbClr val="000000"/>
                </a:solidFill>
              </a:rPr>
              <a:t>lalu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lang="en-US" sz="1300" b="0" dirty="0" err="1">
                <a:solidFill>
                  <a:srgbClr val="000000"/>
                </a:solidFill>
              </a:rPr>
              <a:t>meng</a:t>
            </a:r>
            <a:r>
              <a:rPr sz="1300" b="0" dirty="0" err="1">
                <a:solidFill>
                  <a:srgbClr val="000000"/>
                </a:solidFill>
              </a:rPr>
              <a:t>gunakan</a:t>
            </a:r>
            <a:r>
              <a:rPr sz="1300" b="0" dirty="0">
                <a:solidFill>
                  <a:srgbClr val="000000"/>
                </a:solidFill>
              </a:rPr>
              <a:t> wireless </a:t>
            </a:r>
            <a:r>
              <a:rPr sz="1300" b="0" dirty="0" err="1">
                <a:solidFill>
                  <a:srgbClr val="000000"/>
                </a:solidFill>
              </a:rPr>
              <a:t>hanya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dari</a:t>
            </a:r>
            <a:r>
              <a:rPr sz="1300" b="0" dirty="0">
                <a:solidFill>
                  <a:srgbClr val="000000"/>
                </a:solidFill>
              </a:rPr>
              <a:t> ESP32 </a:t>
            </a:r>
            <a:r>
              <a:rPr sz="1300" b="0" dirty="0" err="1">
                <a:solidFill>
                  <a:srgbClr val="000000"/>
                </a:solidFill>
              </a:rPr>
              <a:t>pusat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ke</a:t>
            </a:r>
            <a:r>
              <a:rPr sz="1300" b="0" dirty="0">
                <a:solidFill>
                  <a:srgbClr val="000000"/>
                </a:solidFill>
              </a:rPr>
              <a:t> dashboard/server. </a:t>
            </a:r>
            <a:r>
              <a:rPr sz="1300" b="0" dirty="0" err="1">
                <a:solidFill>
                  <a:srgbClr val="000000"/>
                </a:solidFill>
              </a:rPr>
              <a:t>Opsi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ini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menekan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biaya</a:t>
            </a:r>
            <a:r>
              <a:rPr sz="1300" b="0" dirty="0">
                <a:solidFill>
                  <a:srgbClr val="000000"/>
                </a:solidFill>
              </a:rPr>
              <a:t> ESP32, </a:t>
            </a:r>
            <a:r>
              <a:rPr sz="1300" b="0" dirty="0" err="1">
                <a:solidFill>
                  <a:srgbClr val="000000"/>
                </a:solidFill>
              </a:rPr>
              <a:t>lebih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stabil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terhadap</a:t>
            </a:r>
            <a:r>
              <a:rPr sz="1300" b="0" dirty="0">
                <a:solidFill>
                  <a:srgbClr val="000000"/>
                </a:solidFill>
              </a:rPr>
              <a:t> panel </a:t>
            </a:r>
            <a:r>
              <a:rPr sz="1300" b="0" dirty="0" err="1">
                <a:solidFill>
                  <a:srgbClr val="000000"/>
                </a:solidFill>
              </a:rPr>
              <a:t>logam</a:t>
            </a:r>
            <a:r>
              <a:rPr sz="1300" b="0" dirty="0">
                <a:solidFill>
                  <a:srgbClr val="000000"/>
                </a:solidFill>
              </a:rPr>
              <a:t>, dan </a:t>
            </a:r>
            <a:r>
              <a:rPr sz="1300" b="0" dirty="0" err="1">
                <a:solidFill>
                  <a:srgbClr val="000000"/>
                </a:solidFill>
              </a:rPr>
              <a:t>tetap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mendukung</a:t>
            </a:r>
            <a:r>
              <a:rPr sz="1300" b="0" dirty="0">
                <a:solidFill>
                  <a:srgbClr val="000000"/>
                </a:solidFill>
              </a:rPr>
              <a:t> data </a:t>
            </a:r>
            <a:r>
              <a:rPr sz="1300" b="0" dirty="0" err="1">
                <a:solidFill>
                  <a:srgbClr val="000000"/>
                </a:solidFill>
              </a:rPr>
              <a:t>historis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setiap</a:t>
            </a:r>
            <a:r>
              <a:rPr sz="1300" b="0" dirty="0">
                <a:solidFill>
                  <a:srgbClr val="000000"/>
                </a:solidFill>
              </a:rPr>
              <a:t> motor.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B58CE-B085-4AA1-6316-78599125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8D1D88-CD37-595D-40C2-DD0F5DCC90D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72D85-C15A-DF9C-3D23-DD5FA98B43A8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949AC-F2B1-2462-DE35-BB5DDF443FBA}"/>
              </a:ext>
            </a:extLst>
          </p:cNvPr>
          <p:cNvSpPr txBox="1"/>
          <p:nvPr/>
        </p:nvSpPr>
        <p:spPr>
          <a:xfrm>
            <a:off x="365760" y="1818366"/>
            <a:ext cx="8921931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DASHBOARD WEB MONITORING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01DADA4B-CAC1-57F9-EC8F-725848941F28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696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9EBD2-822A-BECC-CC8C-EB0F3FE4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44C081-E684-1763-875B-8A2CA59895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kaert Tex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D82B5-0FF1-B713-09D9-D31A667445FE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kaert Text"/>
                <a:ea typeface="+mn-ea"/>
                <a:cs typeface="+mn-cs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CB9885-6602-FAF9-B643-4D9676420A80}"/>
              </a:ext>
            </a:extLst>
          </p:cNvPr>
          <p:cNvSpPr txBox="1"/>
          <p:nvPr/>
        </p:nvSpPr>
        <p:spPr>
          <a:xfrm>
            <a:off x="2801052" y="521179"/>
            <a:ext cx="30846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rgbClr val="FF5B2D"/>
                </a:solidFill>
                <a:effectLst/>
                <a:uLnTx/>
                <a:uFillTx/>
                <a:latin typeface="Bekaert Text"/>
                <a:ea typeface="+mn-ea"/>
                <a:cs typeface="+mn-cs"/>
              </a:rPr>
              <a:t>TAMPILAN GRID 30 M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5B2D"/>
                </a:solidFill>
                <a:effectLst/>
                <a:uLnTx/>
                <a:uFillTx/>
                <a:latin typeface="Bekaert Text"/>
                <a:ea typeface="+mn-ea"/>
                <a:cs typeface="+mn-cs"/>
              </a:rPr>
              <a:t>ESIN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rgbClr val="FF5B2D"/>
              </a:solidFill>
              <a:effectLst/>
              <a:uLnTx/>
              <a:uFillTx/>
              <a:latin typeface="Bekaert Text"/>
              <a:ea typeface="+mn-ea"/>
              <a:cs typeface="+mn-c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70CF9AB-2E3E-05B7-F82C-F5E78C6D21F3}"/>
              </a:ext>
            </a:extLst>
          </p:cNvPr>
          <p:cNvCxnSpPr/>
          <p:nvPr/>
        </p:nvCxnSpPr>
        <p:spPr>
          <a:xfrm>
            <a:off x="2348044" y="859733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3F5F888-A761-8433-4209-C9446E868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971984"/>
            <a:ext cx="8641080" cy="33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89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kaert Text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55685" y="4475161"/>
            <a:ext cx="29687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kaert Text"/>
                <a:ea typeface="+mn-ea"/>
                <a:cs typeface="+mn-cs"/>
              </a:rPr>
              <a:t>1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kaert Text"/>
                <a:ea typeface="+mn-ea"/>
                <a:cs typeface="+mn-cs"/>
              </a:rPr>
              <a:t>1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ekaert Text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638298" y="462366"/>
            <a:ext cx="386740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rgbClr val="FF5B2D"/>
                </a:solidFill>
                <a:effectLst/>
                <a:uLnTx/>
                <a:uFillTx/>
                <a:latin typeface="Bekaert Text"/>
                <a:ea typeface="+mn-ea"/>
                <a:cs typeface="+mn-cs"/>
              </a:rPr>
              <a:t>SAAT KOTAK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5B2D"/>
                </a:solidFill>
                <a:effectLst/>
                <a:uLnTx/>
                <a:uFillTx/>
                <a:latin typeface="Bekaert Text"/>
                <a:ea typeface="+mn-ea"/>
                <a:cs typeface="+mn-cs"/>
              </a:rPr>
              <a:t>MESIN DITEKAN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rgbClr val="FF5B2D"/>
              </a:solidFill>
              <a:effectLst/>
              <a:uLnTx/>
              <a:uFillTx/>
              <a:latin typeface="Bekaert Text"/>
              <a:ea typeface="+mn-ea"/>
              <a:cs typeface="+mn-cs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2651760" y="780351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D848B83-022D-DFD3-730E-78AA5DF67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30" y="889032"/>
            <a:ext cx="7951540" cy="3996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326E8-5925-9099-28F0-E39D411A3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B399DE-E4A7-B31A-0E93-8D5F5CCA68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kaert Tex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D47B2-ABDF-43F5-38D9-6C1AA3D8D2C2}"/>
              </a:ext>
            </a:extLst>
          </p:cNvPr>
          <p:cNvSpPr txBox="1"/>
          <p:nvPr/>
        </p:nvSpPr>
        <p:spPr>
          <a:xfrm>
            <a:off x="8725227" y="4475161"/>
            <a:ext cx="32733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kaert Text"/>
                <a:ea typeface="+mn-ea"/>
                <a:cs typeface="+mn-cs"/>
              </a:rPr>
              <a:t>1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kaert Text"/>
                <a:ea typeface="+mn-ea"/>
                <a:cs typeface="+mn-cs"/>
              </a:rPr>
              <a:t>2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ekaert Text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23B05D-2E04-C37E-D81F-266E319F6712}"/>
              </a:ext>
            </a:extLst>
          </p:cNvPr>
          <p:cNvSpPr txBox="1"/>
          <p:nvPr/>
        </p:nvSpPr>
        <p:spPr>
          <a:xfrm>
            <a:off x="2585461" y="462366"/>
            <a:ext cx="39730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rgbClr val="FF5B2D"/>
                </a:solidFill>
                <a:effectLst/>
                <a:uLnTx/>
                <a:uFillTx/>
                <a:latin typeface="Bekaert Text"/>
                <a:ea typeface="+mn-ea"/>
                <a:cs typeface="+mn-cs"/>
              </a:rPr>
              <a:t>SAAT KOTAK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5B2D"/>
                </a:solidFill>
                <a:effectLst/>
                <a:uLnTx/>
                <a:uFillTx/>
                <a:latin typeface="Bekaert Text"/>
                <a:ea typeface="+mn-ea"/>
                <a:cs typeface="+mn-cs"/>
              </a:rPr>
              <a:t>MOTOR DITEKAN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rgbClr val="FF5B2D"/>
              </a:solidFill>
              <a:effectLst/>
              <a:uLnTx/>
              <a:uFillTx/>
              <a:latin typeface="Bekaert Text"/>
              <a:ea typeface="+mn-ea"/>
              <a:cs typeface="+mn-cs"/>
            </a:endParaRPr>
          </a:p>
        </p:txBody>
      </p: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BAE7DF99-ACC3-96C9-48FE-BF5466533D6F}"/>
              </a:ext>
            </a:extLst>
          </p:cNvPr>
          <p:cNvCxnSpPr/>
          <p:nvPr/>
        </p:nvCxnSpPr>
        <p:spPr>
          <a:xfrm>
            <a:off x="2651760" y="780351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D84F804-E5BA-596D-4B21-9DB5831134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45"/>
          <a:stretch>
            <a:fillRect/>
          </a:stretch>
        </p:blipFill>
        <p:spPr>
          <a:xfrm>
            <a:off x="633003" y="831698"/>
            <a:ext cx="7877990" cy="405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76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36A29-4503-6372-8066-A8B69F47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9F9610-E48A-0E00-EDCE-9BD8CFEF3AE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32AC29-9B30-46A5-8CF3-35568B4E28F9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78513D-1BEA-5527-DFC1-1E84596EB685}"/>
              </a:ext>
            </a:extLst>
          </p:cNvPr>
          <p:cNvSpPr txBox="1"/>
          <p:nvPr/>
        </p:nvSpPr>
        <p:spPr>
          <a:xfrm>
            <a:off x="365760" y="1759583"/>
            <a:ext cx="8921931" cy="9541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PERBANDINGAN HARGA DAN KOMPONEN YANG DIGUNAKAN</a:t>
            </a:r>
            <a:endParaRPr sz="2800" b="1" dirty="0">
              <a:solidFill>
                <a:srgbClr val="FFFFFF"/>
              </a:solidFill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152DA42-FF60-211B-155D-EF643A54783F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130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A930D-107E-EC25-BC2D-D595C961B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BD4F9F-A514-04E9-86E6-8F4F4F377BF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2D5742-E5DD-EE7F-8398-B1C2760BA9EF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51632C-65C1-59FA-9530-3E49D9FA8E51}"/>
              </a:ext>
            </a:extLst>
          </p:cNvPr>
          <p:cNvSpPr txBox="1"/>
          <p:nvPr/>
        </p:nvSpPr>
        <p:spPr>
          <a:xfrm>
            <a:off x="365760" y="1759583"/>
            <a:ext cx="8921931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WIRELESS</a:t>
            </a:r>
            <a:endParaRPr sz="2800" b="1" dirty="0">
              <a:solidFill>
                <a:srgbClr val="FFFFFF"/>
              </a:solidFill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E1FBBDC2-31CC-8A15-98DC-9E917AA9BF1F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740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957AD-0822-1FA9-B47C-6774BEC25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9C6410-883D-D782-7E32-121B44971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501669"/>
              </p:ext>
            </p:extLst>
          </p:nvPr>
        </p:nvGraphicFramePr>
        <p:xfrm>
          <a:off x="442006" y="659130"/>
          <a:ext cx="8259988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10">
                  <a:extLst>
                    <a:ext uri="{9D8B030D-6E8A-4147-A177-3AD203B41FA5}">
                      <a16:colId xmlns:a16="http://schemas.microsoft.com/office/drawing/2014/main" val="1672317711"/>
                    </a:ext>
                  </a:extLst>
                </a:gridCol>
                <a:gridCol w="1045298">
                  <a:extLst>
                    <a:ext uri="{9D8B030D-6E8A-4147-A177-3AD203B41FA5}">
                      <a16:colId xmlns:a16="http://schemas.microsoft.com/office/drawing/2014/main" val="2814842951"/>
                    </a:ext>
                  </a:extLst>
                </a:gridCol>
                <a:gridCol w="1801954">
                  <a:extLst>
                    <a:ext uri="{9D8B030D-6E8A-4147-A177-3AD203B41FA5}">
                      <a16:colId xmlns:a16="http://schemas.microsoft.com/office/drawing/2014/main" val="2765852394"/>
                    </a:ext>
                  </a:extLst>
                </a:gridCol>
                <a:gridCol w="680936">
                  <a:extLst>
                    <a:ext uri="{9D8B030D-6E8A-4147-A177-3AD203B41FA5}">
                      <a16:colId xmlns:a16="http://schemas.microsoft.com/office/drawing/2014/main" val="2158572536"/>
                    </a:ext>
                  </a:extLst>
                </a:gridCol>
                <a:gridCol w="1504545">
                  <a:extLst>
                    <a:ext uri="{9D8B030D-6E8A-4147-A177-3AD203B41FA5}">
                      <a16:colId xmlns:a16="http://schemas.microsoft.com/office/drawing/2014/main" val="173527208"/>
                    </a:ext>
                  </a:extLst>
                </a:gridCol>
                <a:gridCol w="1822315">
                  <a:extLst>
                    <a:ext uri="{9D8B030D-6E8A-4147-A177-3AD203B41FA5}">
                      <a16:colId xmlns:a16="http://schemas.microsoft.com/office/drawing/2014/main" val="2238090059"/>
                    </a:ext>
                  </a:extLst>
                </a:gridCol>
                <a:gridCol w="1153330">
                  <a:extLst>
                    <a:ext uri="{9D8B030D-6E8A-4147-A177-3AD203B41FA5}">
                      <a16:colId xmlns:a16="http://schemas.microsoft.com/office/drawing/2014/main" val="142628808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800" b="1" dirty="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 dirty="0" err="1">
                          <a:solidFill>
                            <a:srgbClr val="FFFFFF"/>
                          </a:solidFill>
                        </a:rPr>
                        <a:t>Komponen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 dirty="0" err="1">
                          <a:solidFill>
                            <a:srgbClr val="FFFFFF"/>
                          </a:solidFill>
                        </a:rPr>
                        <a:t>Fungsi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 err="1">
                          <a:solidFill>
                            <a:srgbClr val="FFFFFF"/>
                          </a:solidFill>
                        </a:rPr>
                        <a:t>Kuantitas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Harga </a:t>
                      </a:r>
                      <a:r>
                        <a:rPr lang="en-US" sz="800" b="1" dirty="0" err="1">
                          <a:solidFill>
                            <a:srgbClr val="FFFFFF"/>
                          </a:solidFill>
                        </a:rPr>
                        <a:t>Satuan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 Harga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Link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178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ESP32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</a:rPr>
                        <a:t>DevKit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 V1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Controller utama, hitung C, kirim data dashboard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10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Rp63.000 – Rp</a:t>
                      </a:r>
                      <a:r>
                        <a:rPr lang="en-US" sz="800" dirty="0"/>
                        <a:t>100.000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800" dirty="0"/>
                        <a:t>Rp</a:t>
                      </a:r>
                      <a:r>
                        <a:rPr lang="en-US" sz="800" dirty="0"/>
                        <a:t>630</a:t>
                      </a:r>
                      <a:r>
                        <a:rPr lang="id-ID" sz="800" dirty="0"/>
                        <a:t>.000</a:t>
                      </a:r>
                      <a:r>
                        <a:rPr lang="en-US" sz="800" dirty="0"/>
                        <a:t> - </a:t>
                      </a:r>
                      <a:r>
                        <a:rPr lang="id-ID" sz="800" dirty="0"/>
                        <a:t>Rp100</a:t>
                      </a:r>
                      <a:r>
                        <a:rPr lang="en-US" sz="800" dirty="0"/>
                        <a:t>0</a:t>
                      </a:r>
                      <a:r>
                        <a:rPr lang="id-ID" sz="800" dirty="0"/>
                        <a:t>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2"/>
                        </a:rPr>
                        <a:t>Produk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63957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PZEM-004T 10A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Membaca arus, tegangan, frekuensi, power factor, dan daya tiap kapasitor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10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Rp65.000 - Rp80.000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Rp650.000 - Rp800.000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3"/>
                        </a:rPr>
                        <a:t>Produk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00644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ESP32 Web Gateway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Diperlukan jika gateway web dipisahkan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800" dirty="0"/>
                        <a:t>Rp63.000 – Rp100.000</a:t>
                      </a:r>
                      <a:endParaRPr lang="id-ID" sz="800" b="0" dirty="0">
                        <a:solidFill>
                          <a:srgbClr val="000000"/>
                        </a:solidFill>
                      </a:endParaRPr>
                    </a:p>
                    <a:p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800" dirty="0"/>
                        <a:t>Rp63.000 – Rp100.000</a:t>
                      </a:r>
                      <a:endParaRPr lang="id-ID" sz="800" b="0" dirty="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2"/>
                        </a:rPr>
                        <a:t>Produk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62466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PCB matrix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Pengaman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tata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letak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komponen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di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titik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11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Rp15.000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Rp150.000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4"/>
                        </a:rPr>
                        <a:t>Produk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99974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Bo</a:t>
                      </a:r>
                      <a:r>
                        <a:rPr lang="en-US" sz="800" dirty="0"/>
                        <a:t>x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err="1"/>
                        <a:t>Sebagai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pengaman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kompoen</a:t>
                      </a:r>
                      <a:r>
                        <a:rPr lang="en-US" sz="800" dirty="0"/>
                        <a:t> dan PCB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11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Rp12.000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Rp132.000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5"/>
                        </a:rPr>
                        <a:t>Produk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41841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PSU </a:t>
                      </a:r>
                      <a:r>
                        <a:rPr lang="en-US" sz="800" dirty="0"/>
                        <a:t>Omron </a:t>
                      </a:r>
                      <a:r>
                        <a:rPr lang="id-ID" sz="800" dirty="0"/>
                        <a:t>5 VDC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Input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daya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untuk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semua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komponen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11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Rp258.000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Rp2.838.000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6"/>
                        </a:rPr>
                        <a:t>Produk</a:t>
                      </a:r>
                      <a:endParaRPr lang="id-ID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68107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Fuse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setiap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node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Pengaman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semua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komponen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Listrik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11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Rp350</a:t>
                      </a:r>
                      <a:endParaRPr sz="8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Rp3.850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7"/>
                        </a:rPr>
                        <a:t>Produk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80205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Resistor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pembagi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tegangan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10k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Untuk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membagi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tegangan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sinyal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dari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PZEM-004T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ke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ESP32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dirty="0"/>
                        <a:t>10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Rp390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Rp3.900</a:t>
                      </a:r>
                      <a:endParaRPr sz="8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ekaert Text"/>
                          <a:ea typeface="+mn-ea"/>
                          <a:cs typeface="+mn-cs"/>
                          <a:hlinkClick r:id="rId8"/>
                        </a:rPr>
                        <a:t>Produk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49826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Resistor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pembagi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tegangan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20k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Untuk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membagi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tegangan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sinyal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dari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PZEM-004T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ke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ESP32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10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Rp200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Rp2.000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ekaert Text"/>
                          <a:ea typeface="+mn-ea"/>
                          <a:cs typeface="+mn-cs"/>
                          <a:hlinkClick r:id="rId9"/>
                        </a:rPr>
                        <a:t>Produk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188809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FFFA5B-4761-FDE2-ABDD-4AD906FA1C3B}"/>
              </a:ext>
            </a:extLst>
          </p:cNvPr>
          <p:cNvSpPr txBox="1"/>
          <p:nvPr/>
        </p:nvSpPr>
        <p:spPr>
          <a:xfrm>
            <a:off x="3638005" y="198363"/>
            <a:ext cx="18679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2000" b="1" dirty="0">
                <a:solidFill>
                  <a:srgbClr val="FF5B2D"/>
                </a:solidFill>
              </a:rPr>
              <a:t>WIRELESS</a:t>
            </a:r>
          </a:p>
        </p:txBody>
      </p:sp>
    </p:spTree>
    <p:extLst>
      <p:ext uri="{BB962C8B-B14F-4D97-AF65-F5344CB8AC3E}">
        <p14:creationId xmlns:p14="http://schemas.microsoft.com/office/powerpoint/2010/main" val="3190481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A120-FBB7-62F3-EAEC-797F69B75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E9B915-B57B-ECD6-5C7F-EBBB8BB2F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553837"/>
              </p:ext>
            </p:extLst>
          </p:nvPr>
        </p:nvGraphicFramePr>
        <p:xfrm>
          <a:off x="442006" y="659130"/>
          <a:ext cx="825998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10">
                  <a:extLst>
                    <a:ext uri="{9D8B030D-6E8A-4147-A177-3AD203B41FA5}">
                      <a16:colId xmlns:a16="http://schemas.microsoft.com/office/drawing/2014/main" val="1672317711"/>
                    </a:ext>
                  </a:extLst>
                </a:gridCol>
                <a:gridCol w="1045298">
                  <a:extLst>
                    <a:ext uri="{9D8B030D-6E8A-4147-A177-3AD203B41FA5}">
                      <a16:colId xmlns:a16="http://schemas.microsoft.com/office/drawing/2014/main" val="2814842951"/>
                    </a:ext>
                  </a:extLst>
                </a:gridCol>
                <a:gridCol w="1707549">
                  <a:extLst>
                    <a:ext uri="{9D8B030D-6E8A-4147-A177-3AD203B41FA5}">
                      <a16:colId xmlns:a16="http://schemas.microsoft.com/office/drawing/2014/main" val="2765852394"/>
                    </a:ext>
                  </a:extLst>
                </a:gridCol>
                <a:gridCol w="648743">
                  <a:extLst>
                    <a:ext uri="{9D8B030D-6E8A-4147-A177-3AD203B41FA5}">
                      <a16:colId xmlns:a16="http://schemas.microsoft.com/office/drawing/2014/main" val="2158572536"/>
                    </a:ext>
                  </a:extLst>
                </a:gridCol>
                <a:gridCol w="1095149">
                  <a:extLst>
                    <a:ext uri="{9D8B030D-6E8A-4147-A177-3AD203B41FA5}">
                      <a16:colId xmlns:a16="http://schemas.microsoft.com/office/drawing/2014/main" val="173527208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238090059"/>
                    </a:ext>
                  </a:extLst>
                </a:gridCol>
                <a:gridCol w="2767056">
                  <a:extLst>
                    <a:ext uri="{9D8B030D-6E8A-4147-A177-3AD203B41FA5}">
                      <a16:colId xmlns:a16="http://schemas.microsoft.com/office/drawing/2014/main" val="142628808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800" b="1" dirty="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 dirty="0" err="1">
                          <a:solidFill>
                            <a:srgbClr val="FFFFFF"/>
                          </a:solidFill>
                        </a:rPr>
                        <a:t>Komponen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 dirty="0" err="1">
                          <a:solidFill>
                            <a:srgbClr val="FFFFFF"/>
                          </a:solidFill>
                        </a:rPr>
                        <a:t>Fungsi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 err="1">
                          <a:solidFill>
                            <a:srgbClr val="FFFFFF"/>
                          </a:solidFill>
                        </a:rPr>
                        <a:t>Kuantitas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Harga </a:t>
                      </a:r>
                      <a:r>
                        <a:rPr lang="en-US" sz="800" b="1" dirty="0" err="1">
                          <a:solidFill>
                            <a:srgbClr val="FFFFFF"/>
                          </a:solidFill>
                        </a:rPr>
                        <a:t>Satuan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 Harga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Link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178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Resistor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pembagi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tegangan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20k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Untuk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membagi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tegangan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sinyal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dari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PZEM-004T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ke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ESP32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10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Rp200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Rp2.000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ekaert Text"/>
                          <a:ea typeface="+mn-ea"/>
                          <a:cs typeface="+mn-cs"/>
                          <a:hlinkClick r:id="rId2"/>
                        </a:rPr>
                        <a:t>Produk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67407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Fuse Holder 5x20mm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Holder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untuk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fuse pada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setiap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PCB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11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Rp2.000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Rp22.000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3"/>
                        </a:rPr>
                        <a:t>Produk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60290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758B24DD-8F58-8CDA-1F4A-0DE45242989B}"/>
              </a:ext>
            </a:extLst>
          </p:cNvPr>
          <p:cNvSpPr txBox="1"/>
          <p:nvPr/>
        </p:nvSpPr>
        <p:spPr>
          <a:xfrm>
            <a:off x="3638005" y="198363"/>
            <a:ext cx="18679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2000" b="1" dirty="0">
                <a:solidFill>
                  <a:srgbClr val="FF5B2D"/>
                </a:solidFill>
              </a:rPr>
              <a:t>WIRELESS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BEC7CC-C55E-ABBD-7A45-EB1CE919E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415859"/>
              </p:ext>
            </p:extLst>
          </p:nvPr>
        </p:nvGraphicFramePr>
        <p:xfrm>
          <a:off x="5192476" y="1878330"/>
          <a:ext cx="3509518" cy="746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9518">
                  <a:extLst>
                    <a:ext uri="{9D8B030D-6E8A-4147-A177-3AD203B41FA5}">
                      <a16:colId xmlns:a16="http://schemas.microsoft.com/office/drawing/2014/main" val="4221337454"/>
                    </a:ext>
                  </a:extLst>
                </a:gridCol>
              </a:tblGrid>
              <a:tr h="365517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 Harga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335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Rp4.496.750 - Rp5.053.750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751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415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9FFA-A8C5-9AB8-23D6-558FC277E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8CEF32-FB9C-10B0-8F5E-68316F6647E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D2F6E-DBBF-22BA-841B-4BCCF6D73A31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4F0BA-65CB-338D-F8DE-7F9BF9E0FAB6}"/>
              </a:ext>
            </a:extLst>
          </p:cNvPr>
          <p:cNvSpPr txBox="1"/>
          <p:nvPr/>
        </p:nvSpPr>
        <p:spPr>
          <a:xfrm>
            <a:off x="365760" y="1759583"/>
            <a:ext cx="8921931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WIRED</a:t>
            </a:r>
            <a:endParaRPr sz="2800" b="1" dirty="0">
              <a:solidFill>
                <a:srgbClr val="FFFFFF"/>
              </a:solidFill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22133EB0-84D5-FCB6-83CD-82903FF055A7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025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973C0-0800-B3F9-6EB0-53A24E1D7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D8A5D2-EA9A-20A3-18AC-4E6B99960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424200"/>
              </p:ext>
            </p:extLst>
          </p:nvPr>
        </p:nvGraphicFramePr>
        <p:xfrm>
          <a:off x="442006" y="386755"/>
          <a:ext cx="8259988" cy="4284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10">
                  <a:extLst>
                    <a:ext uri="{9D8B030D-6E8A-4147-A177-3AD203B41FA5}">
                      <a16:colId xmlns:a16="http://schemas.microsoft.com/office/drawing/2014/main" val="1672317711"/>
                    </a:ext>
                  </a:extLst>
                </a:gridCol>
                <a:gridCol w="1045298">
                  <a:extLst>
                    <a:ext uri="{9D8B030D-6E8A-4147-A177-3AD203B41FA5}">
                      <a16:colId xmlns:a16="http://schemas.microsoft.com/office/drawing/2014/main" val="2814842951"/>
                    </a:ext>
                  </a:extLst>
                </a:gridCol>
                <a:gridCol w="1892746">
                  <a:extLst>
                    <a:ext uri="{9D8B030D-6E8A-4147-A177-3AD203B41FA5}">
                      <a16:colId xmlns:a16="http://schemas.microsoft.com/office/drawing/2014/main" val="2765852394"/>
                    </a:ext>
                  </a:extLst>
                </a:gridCol>
                <a:gridCol w="758757">
                  <a:extLst>
                    <a:ext uri="{9D8B030D-6E8A-4147-A177-3AD203B41FA5}">
                      <a16:colId xmlns:a16="http://schemas.microsoft.com/office/drawing/2014/main" val="2158572536"/>
                    </a:ext>
                  </a:extLst>
                </a:gridCol>
                <a:gridCol w="1472119">
                  <a:extLst>
                    <a:ext uri="{9D8B030D-6E8A-4147-A177-3AD203B41FA5}">
                      <a16:colId xmlns:a16="http://schemas.microsoft.com/office/drawing/2014/main" val="173527208"/>
                    </a:ext>
                  </a:extLst>
                </a:gridCol>
                <a:gridCol w="1491575">
                  <a:extLst>
                    <a:ext uri="{9D8B030D-6E8A-4147-A177-3AD203B41FA5}">
                      <a16:colId xmlns:a16="http://schemas.microsoft.com/office/drawing/2014/main" val="2238090059"/>
                    </a:ext>
                  </a:extLst>
                </a:gridCol>
                <a:gridCol w="1347883">
                  <a:extLst>
                    <a:ext uri="{9D8B030D-6E8A-4147-A177-3AD203B41FA5}">
                      <a16:colId xmlns:a16="http://schemas.microsoft.com/office/drawing/2014/main" val="1426288083"/>
                    </a:ext>
                  </a:extLst>
                </a:gridCol>
              </a:tblGrid>
              <a:tr h="397943">
                <a:tc>
                  <a:txBody>
                    <a:bodyPr/>
                    <a:lstStyle/>
                    <a:p>
                      <a:r>
                        <a:rPr sz="800" b="1" dirty="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 dirty="0" err="1">
                          <a:solidFill>
                            <a:srgbClr val="FFFFFF"/>
                          </a:solidFill>
                        </a:rPr>
                        <a:t>Komponen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 dirty="0" err="1">
                          <a:solidFill>
                            <a:srgbClr val="FFFFFF"/>
                          </a:solidFill>
                        </a:rPr>
                        <a:t>Fungsi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 err="1">
                          <a:solidFill>
                            <a:srgbClr val="FFFFFF"/>
                          </a:solidFill>
                        </a:rPr>
                        <a:t>Kuantitas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Harga </a:t>
                      </a:r>
                      <a:r>
                        <a:rPr lang="en-US" sz="800" b="1" dirty="0" err="1">
                          <a:solidFill>
                            <a:srgbClr val="FFFFFF"/>
                          </a:solidFill>
                        </a:rPr>
                        <a:t>Satuan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 Harga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Link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178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ESP32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</a:rPr>
                        <a:t>DevKit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 V1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Controller utama, hitung C, kirim data dashboard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Rp63.000 – Rp</a:t>
                      </a:r>
                      <a:r>
                        <a:rPr lang="en-US" sz="800" dirty="0"/>
                        <a:t>100.000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Rp63.000 – Rp100.000</a:t>
                      </a:r>
                      <a:endParaRPr lang="id-ID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2"/>
                        </a:rPr>
                        <a:t>Produk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63957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PZEM-004T 10A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Membaca arus, tegangan, frekuensi, power factor, dan daya tiap kapasitor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10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Rp65.000 - Rp80.000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Rp650.000 - Rp800.000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3"/>
                        </a:rPr>
                        <a:t>Produk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00644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TTL-to-RS485 auto-direction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Converter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dari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UART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ke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RS485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11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Rp6.199</a:t>
                      </a:r>
                      <a:endParaRPr sz="800" b="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8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Rp6</a:t>
                      </a:r>
                      <a:r>
                        <a:rPr lang="en-US" sz="8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8.189</a:t>
                      </a:r>
                      <a:endParaRPr lang="id-ID" sz="800" b="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4"/>
                        </a:rPr>
                        <a:t>Produk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62466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PSU Omron 5VDC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sz="800" b="0">
                          <a:solidFill>
                            <a:srgbClr val="000000"/>
                          </a:solidFill>
                        </a:rPr>
                        <a:t>Supply utama pada semua komponen</a:t>
                      </a:r>
                      <a:endParaRPr lang="fi-FI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1 pcs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/>
                        <a:t>Rp258.000</a:t>
                      </a:r>
                      <a:endParaRPr lang="en-US"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/>
                        <a:t>Rp258.000</a:t>
                      </a:r>
                      <a:endParaRPr lang="en-US"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000000"/>
                          </a:solidFill>
                          <a:hlinkClick r:id="rId5"/>
                        </a:rPr>
                        <a:t>Produk</a:t>
                      </a:r>
                      <a:endParaRPr lang="id-ID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29273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Fuse utama 3.15 A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Melindungi semua komponen dari lonjakan listrik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1 pcs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Rp350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Rp3.500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000000"/>
                          </a:solidFill>
                          <a:hlinkClick r:id="rId6"/>
                        </a:rPr>
                        <a:t>Produk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7299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/>
                        <a:t>Resistor terminasi 120 </a:t>
                      </a:r>
                      <a:r>
                        <a:rPr lang="el-GR" sz="800"/>
                        <a:t>Ω</a:t>
                      </a:r>
                      <a:endParaRPr lang="el-GR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Mencegah pantulan sinyal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/>
                        <a:t>2 pcs</a:t>
                      </a:r>
                      <a:endParaRPr lang="id-ID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Rp250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Rp2.500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000000"/>
                          </a:solidFill>
                          <a:hlinkClick r:id="rId7"/>
                        </a:rPr>
                        <a:t>Produk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79488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PCB matrix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Menjaga tata letak setiap komponen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11 pcs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Rp15.000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Rp150.000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000000"/>
                          </a:solidFill>
                          <a:hlinkClick r:id="rId8"/>
                        </a:rPr>
                        <a:t>Produk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60302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Kapasitor 100nF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Menyaring noise frekuensi Tinggi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11 pcs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Rp1000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Rp11.000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000000"/>
                          </a:solidFill>
                          <a:hlinkClick r:id="rId9"/>
                        </a:rPr>
                        <a:t>Produk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0519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Kapasitor 100uF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/>
                        <a:t>Menahan drop tegangan lokal</a:t>
                      </a:r>
                      <a:endParaRPr lang="id-ID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10 pcs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Rp1000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Rp10.000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10"/>
                        </a:rPr>
                        <a:t>Produk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90415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Kapasitor 470 µF controller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Menahan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lonjakan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arus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ESP32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10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Rp1.300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Rp13.000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11"/>
                        </a:rPr>
                        <a:t>Produk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983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472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22CF3-DC23-382A-27CA-7C8A0A56C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DF05E4-734C-E747-4C77-94E12ACAF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43199"/>
              </p:ext>
            </p:extLst>
          </p:nvPr>
        </p:nvGraphicFramePr>
        <p:xfrm>
          <a:off x="442006" y="659130"/>
          <a:ext cx="8259988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10">
                  <a:extLst>
                    <a:ext uri="{9D8B030D-6E8A-4147-A177-3AD203B41FA5}">
                      <a16:colId xmlns:a16="http://schemas.microsoft.com/office/drawing/2014/main" val="1672317711"/>
                    </a:ext>
                  </a:extLst>
                </a:gridCol>
                <a:gridCol w="1045298">
                  <a:extLst>
                    <a:ext uri="{9D8B030D-6E8A-4147-A177-3AD203B41FA5}">
                      <a16:colId xmlns:a16="http://schemas.microsoft.com/office/drawing/2014/main" val="2814842951"/>
                    </a:ext>
                  </a:extLst>
                </a:gridCol>
                <a:gridCol w="1624772">
                  <a:extLst>
                    <a:ext uri="{9D8B030D-6E8A-4147-A177-3AD203B41FA5}">
                      <a16:colId xmlns:a16="http://schemas.microsoft.com/office/drawing/2014/main" val="276585239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158572536"/>
                    </a:ext>
                  </a:extLst>
                </a:gridCol>
                <a:gridCol w="1095149">
                  <a:extLst>
                    <a:ext uri="{9D8B030D-6E8A-4147-A177-3AD203B41FA5}">
                      <a16:colId xmlns:a16="http://schemas.microsoft.com/office/drawing/2014/main" val="173527208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238090059"/>
                    </a:ext>
                  </a:extLst>
                </a:gridCol>
                <a:gridCol w="2767056">
                  <a:extLst>
                    <a:ext uri="{9D8B030D-6E8A-4147-A177-3AD203B41FA5}">
                      <a16:colId xmlns:a16="http://schemas.microsoft.com/office/drawing/2014/main" val="142628808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800" b="1" dirty="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 dirty="0" err="1">
                          <a:solidFill>
                            <a:srgbClr val="FFFFFF"/>
                          </a:solidFill>
                        </a:rPr>
                        <a:t>Komponen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 dirty="0" err="1">
                          <a:solidFill>
                            <a:srgbClr val="FFFFFF"/>
                          </a:solidFill>
                        </a:rPr>
                        <a:t>Fungsi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 err="1">
                          <a:solidFill>
                            <a:srgbClr val="FFFFFF"/>
                          </a:solidFill>
                        </a:rPr>
                        <a:t>Kuantitas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Harga </a:t>
                      </a:r>
                      <a:r>
                        <a:rPr lang="en-US" sz="800" b="1" dirty="0" err="1">
                          <a:solidFill>
                            <a:srgbClr val="FFFFFF"/>
                          </a:solidFill>
                        </a:rPr>
                        <a:t>Satuan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 Harga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Link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178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Bo</a:t>
                      </a:r>
                      <a:r>
                        <a:rPr lang="en-US" sz="800" dirty="0"/>
                        <a:t>x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err="1"/>
                        <a:t>Sebagai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pengaman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kompoen</a:t>
                      </a:r>
                      <a:r>
                        <a:rPr lang="en-US" sz="800" dirty="0"/>
                        <a:t> dan PCB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11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Rp12.000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Rp132.000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2"/>
                        </a:rPr>
                        <a:t>Produk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89987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Terminal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blok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3 pin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Input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dari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UART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ke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RS485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11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Rp5.000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Rp55.000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3"/>
                        </a:rPr>
                        <a:t>Produk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337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Terminal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blok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2 pin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Input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daya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pada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semua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komponen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11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Rp4.450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Rp48.950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3"/>
                        </a:rPr>
                        <a:t>Produk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7328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Fuse Holder 5x20mm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Holder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untuk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fuse pada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setiap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PCB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11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Rp2.000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Rp22.000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4"/>
                        </a:rPr>
                        <a:t>Produk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51618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Skun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ferrules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warna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merah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hitam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kuning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biru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Merapihkan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kabel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yang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akan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masuk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ke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terminal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blok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Masing – masing 25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Rp225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Rp22.500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err="1">
                          <a:solidFill>
                            <a:srgbClr val="000000"/>
                          </a:solidFill>
                          <a:hlinkClick r:id="rId5"/>
                        </a:rPr>
                        <a:t>Produk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20271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0992DF-156F-734E-E746-0F9D3ED07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529739"/>
              </p:ext>
            </p:extLst>
          </p:nvPr>
        </p:nvGraphicFramePr>
        <p:xfrm>
          <a:off x="5192476" y="3021330"/>
          <a:ext cx="3509518" cy="746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9518">
                  <a:extLst>
                    <a:ext uri="{9D8B030D-6E8A-4147-A177-3AD203B41FA5}">
                      <a16:colId xmlns:a16="http://schemas.microsoft.com/office/drawing/2014/main" val="3176321364"/>
                    </a:ext>
                  </a:extLst>
                </a:gridCol>
              </a:tblGrid>
              <a:tr h="365517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 Harga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3172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Rp1.478.139 – Rp1.674.139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988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4399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ekaert 16-9">
  <a:themeElements>
    <a:clrScheme name="Bold New Bekaert">
      <a:dk1>
        <a:srgbClr val="000000"/>
      </a:dk1>
      <a:lt1>
        <a:srgbClr val="FFFFFF"/>
      </a:lt1>
      <a:dk2>
        <a:srgbClr val="D7D2CB"/>
      </a:dk2>
      <a:lt2>
        <a:srgbClr val="F5F3F2"/>
      </a:lt2>
      <a:accent1>
        <a:srgbClr val="01ADEF"/>
      </a:accent1>
      <a:accent2>
        <a:srgbClr val="FF602C"/>
      </a:accent2>
      <a:accent3>
        <a:srgbClr val="5E7D53"/>
      </a:accent3>
      <a:accent4>
        <a:srgbClr val="106C8D"/>
      </a:accent4>
      <a:accent5>
        <a:srgbClr val="9F6340"/>
      </a:accent5>
      <a:accent6>
        <a:srgbClr val="EBE9E5"/>
      </a:accent6>
      <a:hlink>
        <a:srgbClr val="01ADEF"/>
      </a:hlink>
      <a:folHlink>
        <a:srgbClr val="01ADEF"/>
      </a:folHlink>
    </a:clrScheme>
    <a:fontScheme name="Bekaert">
      <a:majorFont>
        <a:latin typeface="Bekaert Headline"/>
        <a:ea typeface=""/>
        <a:cs typeface=""/>
      </a:majorFont>
      <a:minorFont>
        <a:latin typeface="Bekaert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lnSpc>
            <a:spcPct val="130000"/>
          </a:lnSpc>
          <a:defRPr sz="1200" b="0" i="0" dirty="0" err="1" smtClean="0">
            <a:solidFill>
              <a:schemeClr val="bg1"/>
            </a:solidFill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30000"/>
          </a:lnSpc>
          <a:spcAft>
            <a:spcPts val="800"/>
          </a:spcAft>
          <a:buClr>
            <a:schemeClr val="accent1"/>
          </a:buCl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kaert Template.potx" id="{C3DC2113-13BB-4AA1-92DD-60FE8E8D6388}" vid="{41E9FD52-EBB4-4728-A506-221858BBC2FF}"/>
    </a:ext>
  </a:extLst>
</a:theme>
</file>

<file path=ppt/theme/theme2.xml><?xml version="1.0" encoding="utf-8"?>
<a:theme xmlns:a="http://schemas.openxmlformats.org/drawingml/2006/main" name="Office Theme">
  <a:themeElements>
    <a:clrScheme name="Bold New Bekaert">
      <a:dk1>
        <a:srgbClr val="000000"/>
      </a:dk1>
      <a:lt1>
        <a:srgbClr val="FFFFFF"/>
      </a:lt1>
      <a:dk2>
        <a:srgbClr val="D7D2CB"/>
      </a:dk2>
      <a:lt2>
        <a:srgbClr val="F5F3F2"/>
      </a:lt2>
      <a:accent1>
        <a:srgbClr val="01ADEF"/>
      </a:accent1>
      <a:accent2>
        <a:srgbClr val="FF602C"/>
      </a:accent2>
      <a:accent3>
        <a:srgbClr val="5E7D53"/>
      </a:accent3>
      <a:accent4>
        <a:srgbClr val="106C8D"/>
      </a:accent4>
      <a:accent5>
        <a:srgbClr val="9F6340"/>
      </a:accent5>
      <a:accent6>
        <a:srgbClr val="EBE9E5"/>
      </a:accent6>
      <a:hlink>
        <a:srgbClr val="01ADEF"/>
      </a:hlink>
      <a:folHlink>
        <a:srgbClr val="01ADEF"/>
      </a:folHlink>
    </a:clrScheme>
    <a:fontScheme name="Bekaert">
      <a:majorFont>
        <a:latin typeface="Bekaert Headline"/>
        <a:ea typeface=""/>
        <a:cs typeface=""/>
      </a:majorFont>
      <a:minorFont>
        <a:latin typeface="Bekaert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ld New Bekaert">
      <a:dk1>
        <a:srgbClr val="000000"/>
      </a:dk1>
      <a:lt1>
        <a:srgbClr val="FFFFFF"/>
      </a:lt1>
      <a:dk2>
        <a:srgbClr val="D7D2CB"/>
      </a:dk2>
      <a:lt2>
        <a:srgbClr val="F5F3F2"/>
      </a:lt2>
      <a:accent1>
        <a:srgbClr val="01ADEF"/>
      </a:accent1>
      <a:accent2>
        <a:srgbClr val="FF602C"/>
      </a:accent2>
      <a:accent3>
        <a:srgbClr val="5E7D53"/>
      </a:accent3>
      <a:accent4>
        <a:srgbClr val="106C8D"/>
      </a:accent4>
      <a:accent5>
        <a:srgbClr val="9F6340"/>
      </a:accent5>
      <a:accent6>
        <a:srgbClr val="EBE9E5"/>
      </a:accent6>
      <a:hlink>
        <a:srgbClr val="01ADEF"/>
      </a:hlink>
      <a:folHlink>
        <a:srgbClr val="01ADEF"/>
      </a:folHlink>
    </a:clrScheme>
    <a:fontScheme name="Bekaert">
      <a:majorFont>
        <a:latin typeface="Bekaert Headline"/>
        <a:ea typeface=""/>
        <a:cs typeface=""/>
      </a:majorFont>
      <a:minorFont>
        <a:latin typeface="Bekaert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E3BBC77-6C8D-4F96-BD4A-7EBE9C4FC3AF}">
  <we:reference id="wa200002492" version="1.0.0.3" store="en-US" storeType="OMEX"/>
  <we:alternateReferences>
    <we:reference id="WA200002492" version="1.0.0.3" store="WA200002492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QuestionText xmlns="c1157586-506c-47f7-af62-8a4ffee0d374" xsi:nil="true"/>
    <_Flow_SignoffStatus xmlns="c1157586-506c-47f7-af62-8a4ffee0d374" xsi:nil="true"/>
    <TaxCatchAll xmlns="1a62c9fc-ae80-4627-9940-e6a1d8694fe3" xsi:nil="true"/>
    <lcf76f155ced4ddcb4097134ff3c332f xmlns="c1157586-506c-47f7-af62-8a4ffee0d374">
      <Terms xmlns="http://schemas.microsoft.com/office/infopath/2007/PartnerControls"/>
    </lcf76f155ced4ddcb4097134ff3c332f>
    <Area xmlns="c1157586-506c-47f7-af62-8a4ffee0d374" xsi:nil="true"/>
    <QuestionDate xmlns="c1157586-506c-47f7-af62-8a4ffee0d374" xsi:nil="true"/>
    <QuestionChoice xmlns="c1157586-506c-47f7-af62-8a4ffee0d37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3653EED20D4049BE73FA4DFC0C757E" ma:contentTypeVersion="27" ma:contentTypeDescription="Create a new document." ma:contentTypeScope="" ma:versionID="6cda908bc844ad6a0fb64a82927b9163">
  <xsd:schema xmlns:xsd="http://www.w3.org/2001/XMLSchema" xmlns:xs="http://www.w3.org/2001/XMLSchema" xmlns:p="http://schemas.microsoft.com/office/2006/metadata/properties" xmlns:ns2="c1157586-506c-47f7-af62-8a4ffee0d374" xmlns:ns3="1a62c9fc-ae80-4627-9940-e6a1d8694fe3" targetNamespace="http://schemas.microsoft.com/office/2006/metadata/properties" ma:root="true" ma:fieldsID="446f716b589bf69999d94b4190989404" ns2:_="" ns3:_="">
    <xsd:import namespace="c1157586-506c-47f7-af62-8a4ffee0d374"/>
    <xsd:import namespace="1a62c9fc-ae80-4627-9940-e6a1d8694f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Area" minOccurs="0"/>
                <xsd:element ref="ns2:QuestionChoice" minOccurs="0"/>
                <xsd:element ref="ns2:QuestionText" minOccurs="0"/>
                <xsd:element ref="ns2:QuestionDa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157586-506c-47f7-af62-8a4ffee0d3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e24e200-518f-4e5f-a8b5-96763afa41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Area" ma:index="25" nillable="true" ma:displayName="Area" ma:format="Dropdown" ma:internalName="Area">
      <xsd:simpleType>
        <xsd:restriction base="dms:Choice">
          <xsd:enumeration value="C&amp;B"/>
          <xsd:enumeration value="DD"/>
          <xsd:enumeration value="INFRA"/>
          <xsd:enumeration value="IPH"/>
          <xsd:enumeration value="PROC"/>
          <xsd:enumeration value="WWD"/>
          <xsd:enumeration value="GENERAL"/>
        </xsd:restriction>
      </xsd:simpleType>
    </xsd:element>
    <xsd:element name="QuestionChoice" ma:index="26" nillable="true" ma:displayName="Question Choice" ma:format="Dropdown" ma:internalName="QuestionChoice">
      <xsd:simpleType>
        <xsd:restriction base="dms:Text">
          <xsd:maxLength value="255"/>
        </xsd:restriction>
      </xsd:simpleType>
    </xsd:element>
    <xsd:element name="QuestionText" ma:index="27" nillable="true" ma:displayName="Question Text" ma:format="Dropdown" ma:internalName="QuestionText">
      <xsd:simpleType>
        <xsd:restriction base="dms:Text">
          <xsd:maxLength value="255"/>
        </xsd:restriction>
      </xsd:simpleType>
    </xsd:element>
    <xsd:element name="QuestionDate" ma:index="28" nillable="true" ma:displayName="Question Date" ma:format="Dropdown" ma:internalName="QuestionDate">
      <xsd:simpleType>
        <xsd:restriction base="dms:Text">
          <xsd:maxLength value="255"/>
        </xsd:restriction>
      </xsd:simple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2c9fc-ae80-4627-9940-e6a1d8694fe3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21ce113-e953-47d7-aa69-ba7451fc0d99}" ma:internalName="TaxCatchAll" ma:showField="CatchAllData" ma:web="1a62c9fc-ae80-4627-9940-e6a1d8694f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0A5AB3-D99A-4FD1-965F-E9E1007CA5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480660-C03D-44FC-B02E-7DCF2F22EFCF}">
  <ds:schemaRefs>
    <ds:schemaRef ds:uri="http://purl.org/dc/terms/"/>
    <ds:schemaRef ds:uri="1a62c9fc-ae80-4627-9940-e6a1d8694fe3"/>
    <ds:schemaRef ds:uri="c1157586-506c-47f7-af62-8a4ffee0d374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14A1566-2886-4E41-AB85-E96A3722A3FB}">
  <ds:schemaRefs>
    <ds:schemaRef ds:uri="1a62c9fc-ae80-4627-9940-e6a1d8694fe3"/>
    <ds:schemaRef ds:uri="c1157586-506c-47f7-af62-8a4ffee0d3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91136ced-0f10-41c6-ad9e-c2614b9ab5ad}" enabled="1" method="Standard" siteId="{d9e53fd4-13d7-4ca7-a602-14173f4df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1173</TotalTime>
  <Words>1283</Words>
  <Application>Microsoft Office PowerPoint</Application>
  <PresentationFormat>On-screen Show (16:9)</PresentationFormat>
  <Paragraphs>417</Paragraphs>
  <Slides>30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Wingdings</vt:lpstr>
      <vt:lpstr>Symbol</vt:lpstr>
      <vt:lpstr>Bekaert Text</vt:lpstr>
      <vt:lpstr>Courier New</vt:lpstr>
      <vt:lpstr>Bekaert Headline</vt:lpstr>
      <vt:lpstr>Arial</vt:lpstr>
      <vt:lpstr>Bekaert 16-9</vt:lpstr>
      <vt:lpstr>think-cell Slide</vt:lpstr>
      <vt:lpstr>Perbandingan Topologi Wired vs Wireless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 Suhendar</dc:creator>
  <cp:lastModifiedBy>Andre Rizm</cp:lastModifiedBy>
  <cp:revision>30</cp:revision>
  <dcterms:created xsi:type="dcterms:W3CDTF">2022-11-07T13:46:31Z</dcterms:created>
  <dcterms:modified xsi:type="dcterms:W3CDTF">2026-07-30T01:34:24Z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argetEmployeeGroup">
    <vt:lpwstr/>
  </property>
  <property fmtid="{D5CDD505-2E9C-101B-9397-08002B2CF9AE}" pid="3" name="TargetGeographicalArea">
    <vt:lpwstr/>
  </property>
  <property fmtid="{D5CDD505-2E9C-101B-9397-08002B2CF9AE}" pid="4" name="ContentTypeId">
    <vt:lpwstr>0x010100D23653EED20D4049BE73FA4DFC0C757E</vt:lpwstr>
  </property>
  <property fmtid="{D5CDD505-2E9C-101B-9397-08002B2CF9AE}" pid="5" name="TargetFunctionalArea">
    <vt:lpwstr/>
  </property>
  <property fmtid="{D5CDD505-2E9C-101B-9397-08002B2CF9AE}" pid="6" name="TargetPlatform">
    <vt:lpwstr/>
  </property>
  <property fmtid="{D5CDD505-2E9C-101B-9397-08002B2CF9AE}" pid="7" name="TargetLanguage">
    <vt:lpwstr/>
  </property>
  <property fmtid="{D5CDD505-2E9C-101B-9397-08002B2CF9AE}" pid="8" name="_dlc_DocIdItemGuid">
    <vt:lpwstr>c287c0a5-0032-4d18-b0be-e300543b195e</vt:lpwstr>
  </property>
  <property fmtid="{D5CDD505-2E9C-101B-9397-08002B2CF9AE}" pid="9" name="BekaertClassification">
    <vt:lpwstr>Bekaert Restricted Information</vt:lpwstr>
  </property>
  <property fmtid="{D5CDD505-2E9C-101B-9397-08002B2CF9AE}" pid="10" name="TitusGUID">
    <vt:lpwstr>63d589a8-eca7-431b-8d72-60be08e50785</vt:lpwstr>
  </property>
  <property fmtid="{D5CDD505-2E9C-101B-9397-08002B2CF9AE}" pid="11" name="MediaServiceImageTags">
    <vt:lpwstr/>
  </property>
</Properties>
</file>